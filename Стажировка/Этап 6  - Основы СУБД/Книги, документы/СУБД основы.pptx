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16" r:id="rId2"/>
    <p:sldId id="426" r:id="rId3"/>
    <p:sldId id="427" r:id="rId4"/>
    <p:sldId id="425" r:id="rId5"/>
    <p:sldId id="428" r:id="rId6"/>
    <p:sldId id="429" r:id="rId7"/>
    <p:sldId id="430" r:id="rId8"/>
    <p:sldId id="385" r:id="rId9"/>
    <p:sldId id="433" r:id="rId10"/>
    <p:sldId id="434" r:id="rId11"/>
    <p:sldId id="435" r:id="rId12"/>
    <p:sldId id="439" r:id="rId13"/>
    <p:sldId id="437" r:id="rId14"/>
    <p:sldId id="438" r:id="rId15"/>
    <p:sldId id="440" r:id="rId16"/>
    <p:sldId id="441" r:id="rId17"/>
    <p:sldId id="386" r:id="rId18"/>
    <p:sldId id="442" r:id="rId19"/>
    <p:sldId id="443" r:id="rId20"/>
    <p:sldId id="444" r:id="rId21"/>
    <p:sldId id="446" r:id="rId22"/>
    <p:sldId id="447" r:id="rId23"/>
    <p:sldId id="445" r:id="rId24"/>
    <p:sldId id="449" r:id="rId25"/>
    <p:sldId id="448" r:id="rId26"/>
    <p:sldId id="450" r:id="rId27"/>
    <p:sldId id="451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3" autoAdjust="0"/>
    <p:restoredTop sz="94660"/>
  </p:normalViewPr>
  <p:slideViewPr>
    <p:cSldViewPr snapToGrid="0">
      <p:cViewPr varScale="1">
        <p:scale>
          <a:sx n="57" d="100"/>
          <a:sy n="57" d="100"/>
        </p:scale>
        <p:origin x="8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CD749-9130-4352-83DC-873A75D1D11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5B8BC-C241-4CAE-B1BE-996C0BB668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73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61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A6BCC-70DE-4C85-8D34-4D233AF6F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266D39-280C-9B63-403C-D49AB267E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74C8DB-5D47-B62E-9EFC-689F8229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7E0377-63D3-0092-4F0D-56B55819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F5881C-CE8A-0868-A5B0-6A870E29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7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B75B9-4FD2-A6B5-74DD-6E7DA99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65AB93-6D29-0F3B-1377-9FCBE473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50A5F-50C2-7465-85C7-F521B2F4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1A1A3E-147A-F3EE-5560-C4024FFC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D70500-88C5-275F-F4C1-8B874FB5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7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36445-B7F4-AE99-8510-F19D8F0A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8BBC71-4EA0-BA0D-CC61-5A913F3BB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B9C41A-F89B-95E9-8D21-742A2818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80C8A8-1AEF-C861-45FE-5E33DAAC7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386C6B-B0E0-6A36-3BD2-061E047D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38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3CE5C-E42E-7472-919D-DF1B4974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41158-C12A-F818-AB88-D3955D37A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C8D0CE-0B1A-D1E3-4A18-4234F5FAE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62E00-7CA6-9347-55FF-0F0699F4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91B812-B2DE-E9AE-870D-3C5F308B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48A6EB-01EC-BAC0-9B8A-3B4032CE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70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1FB0C-0533-3027-80EF-84073D42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A88B47-0781-8A22-3AB0-FB44E301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49342E-A5F3-CEF1-9DEE-42566B6D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D84CE6-1386-A493-D3D2-2E8FAB167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214223-59F7-B717-1125-15BB19650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9A838C-5246-FEC5-DD7E-1B5A610A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DBFD9B-5D3B-8281-A341-871F44C4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D8AD54-F792-FC9E-D4B1-DEF25E7D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96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03AB0-CB77-8443-D553-1F173E6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8922BE-595B-EEC0-926F-D9E0926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83919C-8B9B-D20A-EBC7-4CC4376F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700C57-9EC4-8FCF-39B1-821CDB53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6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04C8D2-D2F8-F220-1A7E-26382005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6B36E97-4CED-D433-8557-D6A4606A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344F57-F3D6-32EF-CD94-BB42E5DB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56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D367B-0DD0-6570-6737-DCFEE66B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F14745-FF18-EC56-94A8-BB89CE96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896AB6-EF09-6795-D868-E112C99F9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DEA1D0-E280-BBA6-9937-D97EE2269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FA1715-F23C-5261-27B6-CA25EE9F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C86A9C-DBF0-43BE-4129-44FA8695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92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42A45-C907-A368-CE52-FD04EB31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893737-E40C-607F-5E4A-437C169EA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5A6C35-814F-E742-F40E-AA9A7F3F9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9A800D-5876-3460-1840-65CC16B3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93D7EB-884E-2F5F-948D-E65DE8DA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0A1AD-7736-3165-9568-CD0E63FF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50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70308-8295-5FE5-181A-9DD6D82D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A7A989-7B0E-D289-E47D-BE0376B21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81DA3-4E3C-5F74-9C26-AA4E8719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DAB12-267A-BB60-C3CE-06E2A40C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C0DCA-B05A-38AE-C459-B94F60CF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94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07FEA1-4A13-B5A6-8CCA-7596BAD5E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D7A2D7-6665-36A3-D7A9-E87B0F6DF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3C982-DEBB-EA9C-0646-5E893860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4F5E92-95D4-8B15-3E52-A066E066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36ED87-66D5-1FE9-20D0-7F5F91CA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84CCA-5158-0C10-DF86-7550DD18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74E3C6-3E6F-24F8-5089-F560ED5CF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2ACB06-EC86-609E-A76F-DA06221D0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6FA99-F6EA-4035-BBEA-516FB4ECC9C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09D82-0B6D-CECE-280F-1F04A0D7C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8249FD-111C-0150-2F65-023B0F0F5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11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A6FC8EA-3753-04AC-4030-F53B618A6B67}"/>
              </a:ext>
            </a:extLst>
          </p:cNvPr>
          <p:cNvSpPr txBox="1">
            <a:spLocks/>
          </p:cNvSpPr>
          <p:nvPr/>
        </p:nvSpPr>
        <p:spPr>
          <a:xfrm>
            <a:off x="2944904" y="2729754"/>
            <a:ext cx="6302189" cy="6992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Montserrat" panose="00000500000000000000" pitchFamily="2" charset="-52"/>
              </a:rPr>
              <a:t>СУБД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D5BEAFD-48D6-FC77-E42A-58846C6EC14E}"/>
              </a:ext>
            </a:extLst>
          </p:cNvPr>
          <p:cNvSpPr txBox="1">
            <a:spLocks/>
          </p:cNvSpPr>
          <p:nvPr/>
        </p:nvSpPr>
        <p:spPr>
          <a:xfrm>
            <a:off x="3631122" y="3449732"/>
            <a:ext cx="4929752" cy="42554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Стажировка «</a:t>
            </a:r>
            <a:r>
              <a:rPr lang="en-US" dirty="0">
                <a:latin typeface="Montserrat" panose="00000500000000000000" pitchFamily="2" charset="-52"/>
              </a:rPr>
              <a:t>C</a:t>
            </a:r>
            <a:r>
              <a:rPr lang="ru-RU" dirty="0">
                <a:latin typeface="Montserrat" panose="00000500000000000000" pitchFamily="2" charset="-52"/>
              </a:rPr>
              <a:t>ХД и СРК»</a:t>
            </a:r>
          </a:p>
          <a:p>
            <a:pPr algn="ctr"/>
            <a:endParaRPr lang="ru-RU" b="1" dirty="0">
              <a:latin typeface="Montserrat" panose="00000500000000000000" pitchFamily="2" charset="-52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A38C6EC-F347-4D08-21A5-6287766F16C7}"/>
              </a:ext>
            </a:extLst>
          </p:cNvPr>
          <p:cNvSpPr txBox="1">
            <a:spLocks/>
          </p:cNvSpPr>
          <p:nvPr/>
        </p:nvSpPr>
        <p:spPr>
          <a:xfrm>
            <a:off x="9126070" y="4930728"/>
            <a:ext cx="2965635" cy="4255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400" dirty="0">
                <a:latin typeface="Montserrat" panose="00000500000000000000" pitchFamily="2" charset="-52"/>
              </a:rPr>
              <a:t>Поляков Даниил</a:t>
            </a:r>
          </a:p>
        </p:txBody>
      </p:sp>
    </p:spTree>
    <p:extLst>
      <p:ext uri="{BB962C8B-B14F-4D97-AF65-F5344CB8AC3E}">
        <p14:creationId xmlns:p14="http://schemas.microsoft.com/office/powerpoint/2010/main" val="421056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D868A-2AF5-BD18-95A6-D6F0BFF9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5A5633-A22A-DAB8-77DA-8C7594B2D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A2C3120-EABB-72B4-00FF-B8073A5ABE5F}"/>
              </a:ext>
            </a:extLst>
          </p:cNvPr>
          <p:cNvSpPr txBox="1">
            <a:spLocks/>
          </p:cNvSpPr>
          <p:nvPr/>
        </p:nvSpPr>
        <p:spPr>
          <a:xfrm>
            <a:off x="1388017" y="70340"/>
            <a:ext cx="9415959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Отличия </a:t>
            </a:r>
            <a:r>
              <a:rPr lang="ru-RU" sz="3600" dirty="0" err="1">
                <a:latin typeface="Montserrat" panose="00000500000000000000" pitchFamily="2" charset="-52"/>
              </a:rPr>
              <a:t>бэкплейнов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BF0AA-4B1A-E71F-119D-76398084F88F}"/>
              </a:ext>
            </a:extLst>
          </p:cNvPr>
          <p:cNvSpPr txBox="1"/>
          <p:nvPr/>
        </p:nvSpPr>
        <p:spPr>
          <a:xfrm>
            <a:off x="186014" y="421434"/>
            <a:ext cx="118199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В пассивном </a:t>
            </a:r>
            <a:r>
              <a:rPr lang="ru-RU" sz="2800" dirty="0" err="1">
                <a:latin typeface="Montserrat" panose="00000500000000000000" pitchFamily="2" charset="-52"/>
              </a:rPr>
              <a:t>бэкплейне</a:t>
            </a:r>
            <a:r>
              <a:rPr lang="ru-RU" sz="2800" dirty="0">
                <a:latin typeface="Montserrat" panose="00000500000000000000" pitchFamily="2" charset="-52"/>
              </a:rPr>
              <a:t> на </a:t>
            </a:r>
            <a:r>
              <a:rPr lang="en-US" sz="2800" dirty="0">
                <a:latin typeface="Montserrat" panose="00000500000000000000" pitchFamily="2" charset="-52"/>
              </a:rPr>
              <a:t>SAS</a:t>
            </a:r>
            <a:r>
              <a:rPr lang="ru-RU" sz="2800" dirty="0">
                <a:latin typeface="Montserrat" panose="00000500000000000000" pitchFamily="2" charset="-52"/>
              </a:rPr>
              <a:t> формула: </a:t>
            </a:r>
            <a:r>
              <a:rPr lang="en-US" sz="2800" dirty="0" err="1">
                <a:latin typeface="Montserrat" panose="00000500000000000000" pitchFamily="2" charset="-52"/>
              </a:rPr>
              <a:t>B_total</a:t>
            </a:r>
            <a:r>
              <a:rPr lang="en-US" sz="2800" dirty="0">
                <a:latin typeface="Montserrat" panose="00000500000000000000" pitchFamily="2" charset="-52"/>
              </a:rPr>
              <a:t> = </a:t>
            </a:r>
            <a:r>
              <a:rPr lang="en-US" sz="2800" dirty="0" err="1">
                <a:latin typeface="Montserrat" panose="00000500000000000000" pitchFamily="2" charset="-52"/>
              </a:rPr>
              <a:t>N_ports</a:t>
            </a:r>
            <a:r>
              <a:rPr lang="en-US" sz="2800" dirty="0">
                <a:latin typeface="Montserrat" panose="00000500000000000000" pitchFamily="2" charset="-52"/>
              </a:rPr>
              <a:t> × </a:t>
            </a:r>
            <a:r>
              <a:rPr lang="en-US" sz="2800" dirty="0" err="1">
                <a:latin typeface="Montserrat" panose="00000500000000000000" pitchFamily="2" charset="-52"/>
              </a:rPr>
              <a:t>N_phy</a:t>
            </a:r>
            <a:r>
              <a:rPr lang="en-US" sz="2800" dirty="0">
                <a:latin typeface="Montserrat" panose="00000500000000000000" pitchFamily="2" charset="-52"/>
              </a:rPr>
              <a:t> × </a:t>
            </a:r>
            <a:r>
              <a:rPr lang="en-US" sz="2800" dirty="0" err="1">
                <a:latin typeface="Montserrat" panose="00000500000000000000" pitchFamily="2" charset="-52"/>
              </a:rPr>
              <a:t>V_phy</a:t>
            </a:r>
            <a:r>
              <a:rPr lang="ru-RU" sz="2800" dirty="0">
                <a:latin typeface="Montserrat" panose="00000500000000000000" pitchFamily="2" charset="-52"/>
              </a:rPr>
              <a:t>, </a:t>
            </a:r>
            <a:r>
              <a:rPr lang="en-US" sz="2800" dirty="0" err="1">
                <a:latin typeface="Montserrat" panose="00000500000000000000" pitchFamily="2" charset="-52"/>
              </a:rPr>
              <a:t>N_ports</a:t>
            </a:r>
            <a:r>
              <a:rPr lang="en-US" sz="2800" dirty="0">
                <a:latin typeface="Montserrat" panose="00000500000000000000" pitchFamily="2" charset="-52"/>
              </a:rPr>
              <a:t> — </a:t>
            </a:r>
            <a:r>
              <a:rPr lang="ru-RU" sz="2800" dirty="0">
                <a:latin typeface="Montserrat" panose="00000500000000000000" pitchFamily="2" charset="-52"/>
              </a:rPr>
              <a:t>число </a:t>
            </a:r>
            <a:r>
              <a:rPr lang="en-US" sz="2800" dirty="0">
                <a:latin typeface="Montserrat" panose="00000500000000000000" pitchFamily="2" charset="-52"/>
              </a:rPr>
              <a:t>SAS-</a:t>
            </a:r>
            <a:r>
              <a:rPr lang="ru-RU" sz="2800" dirty="0">
                <a:latin typeface="Montserrat" panose="00000500000000000000" pitchFamily="2" charset="-52"/>
              </a:rPr>
              <a:t>разъёмов на </a:t>
            </a:r>
            <a:r>
              <a:rPr lang="en-US" sz="2800" dirty="0">
                <a:latin typeface="Montserrat" panose="00000500000000000000" pitchFamily="2" charset="-52"/>
              </a:rPr>
              <a:t>HBA</a:t>
            </a:r>
            <a:r>
              <a:rPr lang="ru-RU" sz="2800" dirty="0">
                <a:latin typeface="Montserrat" panose="00000500000000000000" pitchFamily="2" charset="-52"/>
              </a:rPr>
              <a:t>, </a:t>
            </a:r>
            <a:r>
              <a:rPr lang="ru-RU" sz="2800" dirty="0" err="1">
                <a:latin typeface="Montserrat" panose="00000500000000000000" pitchFamily="2" charset="-52"/>
              </a:rPr>
              <a:t>N_phy</a:t>
            </a:r>
            <a:r>
              <a:rPr lang="ru-RU" sz="2800" dirty="0">
                <a:latin typeface="Montserrat" panose="00000500000000000000" pitchFamily="2" charset="-52"/>
              </a:rPr>
              <a:t> — число линий внутри одного SAS-разъёма(4), </a:t>
            </a:r>
            <a:r>
              <a:rPr lang="en-US" sz="2800" dirty="0">
                <a:latin typeface="Montserrat" panose="00000500000000000000" pitchFamily="2" charset="-52"/>
              </a:rPr>
              <a:t>V –</a:t>
            </a:r>
            <a:r>
              <a:rPr lang="ru-RU" sz="2800" dirty="0">
                <a:latin typeface="Montserrat" panose="00000500000000000000" pitchFamily="2" charset="-52"/>
              </a:rPr>
              <a:t> скорость линии</a:t>
            </a:r>
            <a:endParaRPr lang="en-US" sz="2800" dirty="0">
              <a:latin typeface="Montserrat" panose="00000500000000000000" pitchFamily="2" charset="-52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1E39D2-463F-0681-E03D-7C92FBB42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920" y="2123280"/>
            <a:ext cx="6804058" cy="4313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EB25E7-A2EC-8820-AB95-D2AC5F6F8052}"/>
              </a:ext>
            </a:extLst>
          </p:cNvPr>
          <p:cNvSpPr txBox="1"/>
          <p:nvPr/>
        </p:nvSpPr>
        <p:spPr>
          <a:xfrm>
            <a:off x="186014" y="2237316"/>
            <a:ext cx="48298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В пассивном </a:t>
            </a:r>
            <a:r>
              <a:rPr lang="ru-RU" sz="2800" dirty="0" err="1">
                <a:latin typeface="Montserrat" panose="00000500000000000000" pitchFamily="2" charset="-52"/>
              </a:rPr>
              <a:t>бэкплейне</a:t>
            </a:r>
            <a:r>
              <a:rPr lang="ru-RU" sz="2800" dirty="0">
                <a:latin typeface="Montserrat" panose="00000500000000000000" pitchFamily="2" charset="-52"/>
              </a:rPr>
              <a:t> на </a:t>
            </a:r>
            <a:r>
              <a:rPr lang="en-US" sz="2800" dirty="0">
                <a:latin typeface="Montserrat" panose="00000500000000000000" pitchFamily="2" charset="-52"/>
              </a:rPr>
              <a:t>SAS</a:t>
            </a:r>
            <a:r>
              <a:rPr lang="ru-RU" sz="2800" dirty="0">
                <a:latin typeface="Montserrat" panose="00000500000000000000" pitchFamily="2" charset="-52"/>
              </a:rPr>
              <a:t> 1 порт = </a:t>
            </a:r>
            <a:r>
              <a:rPr lang="en-US" sz="2800" dirty="0">
                <a:latin typeface="Montserrat" panose="00000500000000000000" pitchFamily="2" charset="-52"/>
              </a:rPr>
              <a:t>4</a:t>
            </a:r>
            <a:r>
              <a:rPr lang="ru-RU" sz="2800" dirty="0">
                <a:latin typeface="Montserrat" panose="00000500000000000000" pitchFamily="2" charset="-52"/>
              </a:rPr>
              <a:t> диск.</a:t>
            </a:r>
            <a:r>
              <a:rPr lang="en-US" sz="2800" dirty="0">
                <a:latin typeface="Montserrat" panose="00000500000000000000" pitchFamily="2" charset="-52"/>
              </a:rPr>
              <a:t> </a:t>
            </a:r>
            <a:r>
              <a:rPr lang="ru-RU" sz="2800" dirty="0">
                <a:latin typeface="Montserrat" panose="00000500000000000000" pitchFamily="2" charset="-52"/>
              </a:rPr>
              <a:t>Например, у нас 3 порта по 4 линии, скорость 12 ГБ</a:t>
            </a:r>
            <a:r>
              <a:rPr lang="en-US" sz="2800" dirty="0">
                <a:latin typeface="Montserrat" panose="00000500000000000000" pitchFamily="2" charset="-52"/>
              </a:rPr>
              <a:t>/c. </a:t>
            </a:r>
            <a:r>
              <a:rPr lang="ru-RU" sz="2800" dirty="0">
                <a:latin typeface="Montserrat" panose="00000500000000000000" pitchFamily="2" charset="-52"/>
              </a:rPr>
              <a:t>И на каждый диск будет выделена скорость 12 ГБ</a:t>
            </a:r>
            <a:r>
              <a:rPr lang="en-US" sz="2800" dirty="0">
                <a:latin typeface="Montserrat" panose="00000500000000000000" pitchFamily="2" charset="-52"/>
              </a:rPr>
              <a:t>/c</a:t>
            </a:r>
            <a:r>
              <a:rPr lang="ru-RU" sz="2800" dirty="0">
                <a:latin typeface="Montserrat" panose="00000500000000000000" pitchFamily="2" charset="-52"/>
              </a:rPr>
              <a:t>.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3*4*12</a:t>
            </a:r>
            <a:r>
              <a:rPr lang="en-US" sz="2800" dirty="0">
                <a:latin typeface="Montserrat" panose="00000500000000000000" pitchFamily="2" charset="-52"/>
              </a:rPr>
              <a:t> = 144 Gb/s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 </a:t>
            </a:r>
            <a:endParaRPr lang="en-US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5243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8B05-194B-97AB-A79F-3392A10E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24FDE1-AFFC-21D4-682E-0D60B5E7A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A0CE1A4-4C27-266A-D6F8-83AEA2E50193}"/>
              </a:ext>
            </a:extLst>
          </p:cNvPr>
          <p:cNvSpPr txBox="1">
            <a:spLocks/>
          </p:cNvSpPr>
          <p:nvPr/>
        </p:nvSpPr>
        <p:spPr>
          <a:xfrm>
            <a:off x="1388017" y="70340"/>
            <a:ext cx="9415959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Отличия </a:t>
            </a:r>
            <a:r>
              <a:rPr lang="ru-RU" sz="3600" dirty="0" err="1">
                <a:latin typeface="Montserrat" panose="00000500000000000000" pitchFamily="2" charset="-52"/>
              </a:rPr>
              <a:t>бэкплейнов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E6B5D-3E5E-955C-D00B-64F213356D7D}"/>
              </a:ext>
            </a:extLst>
          </p:cNvPr>
          <p:cNvSpPr txBox="1"/>
          <p:nvPr/>
        </p:nvSpPr>
        <p:spPr>
          <a:xfrm>
            <a:off x="186014" y="421434"/>
            <a:ext cx="118199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В активном </a:t>
            </a:r>
            <a:r>
              <a:rPr lang="ru-RU" sz="2800" dirty="0" err="1">
                <a:latin typeface="Montserrat" panose="00000500000000000000" pitchFamily="2" charset="-52"/>
              </a:rPr>
              <a:t>бэкплейне</a:t>
            </a:r>
            <a:r>
              <a:rPr lang="ru-RU" sz="2800" dirty="0">
                <a:latin typeface="Montserrat" panose="00000500000000000000" pitchFamily="2" charset="-52"/>
              </a:rPr>
              <a:t> на </a:t>
            </a:r>
            <a:r>
              <a:rPr lang="en-US" sz="2800" dirty="0">
                <a:latin typeface="Montserrat" panose="00000500000000000000" pitchFamily="2" charset="-52"/>
              </a:rPr>
              <a:t>SAS</a:t>
            </a:r>
            <a:r>
              <a:rPr lang="ru-RU" sz="2800" dirty="0">
                <a:latin typeface="Montserrat" panose="00000500000000000000" pitchFamily="2" charset="-52"/>
              </a:rPr>
              <a:t> формула: </a:t>
            </a:r>
            <a:r>
              <a:rPr lang="en-US" sz="2800" dirty="0" err="1">
                <a:latin typeface="Montserrat" panose="00000500000000000000" pitchFamily="2" charset="-52"/>
              </a:rPr>
              <a:t>B_uplink</a:t>
            </a:r>
            <a:r>
              <a:rPr lang="en-US" sz="2800" dirty="0">
                <a:latin typeface="Montserrat" panose="00000500000000000000" pitchFamily="2" charset="-52"/>
              </a:rPr>
              <a:t> = </a:t>
            </a:r>
            <a:r>
              <a:rPr lang="en-US" sz="2800" dirty="0" err="1">
                <a:latin typeface="Montserrat" panose="00000500000000000000" pitchFamily="2" charset="-52"/>
              </a:rPr>
              <a:t>N_uplink_ports</a:t>
            </a:r>
            <a:r>
              <a:rPr lang="en-US" sz="2800" dirty="0">
                <a:latin typeface="Montserrat" panose="00000500000000000000" pitchFamily="2" charset="-52"/>
              </a:rPr>
              <a:t> × </a:t>
            </a:r>
            <a:r>
              <a:rPr lang="en-US" sz="2800" dirty="0" err="1">
                <a:latin typeface="Montserrat" panose="00000500000000000000" pitchFamily="2" charset="-52"/>
              </a:rPr>
              <a:t>N_phy</a:t>
            </a:r>
            <a:r>
              <a:rPr lang="en-US" sz="2800" dirty="0">
                <a:latin typeface="Montserrat" panose="00000500000000000000" pitchFamily="2" charset="-52"/>
              </a:rPr>
              <a:t> × </a:t>
            </a:r>
            <a:r>
              <a:rPr lang="en-US" sz="2800" dirty="0" err="1">
                <a:latin typeface="Montserrat" panose="00000500000000000000" pitchFamily="2" charset="-52"/>
              </a:rPr>
              <a:t>V_phy</a:t>
            </a:r>
            <a:endParaRPr lang="ru-RU" sz="2800" dirty="0">
              <a:latin typeface="Montserrat" panose="00000500000000000000" pitchFamily="2" charset="-52"/>
            </a:endParaRPr>
          </a:p>
          <a:p>
            <a:pPr algn="just"/>
            <a:r>
              <a:rPr lang="en-US" sz="2800" dirty="0" err="1">
                <a:latin typeface="Montserrat" panose="00000500000000000000" pitchFamily="2" charset="-52"/>
              </a:rPr>
              <a:t>B_uplink</a:t>
            </a:r>
            <a:r>
              <a:rPr lang="en-US" sz="2800" dirty="0">
                <a:latin typeface="Montserrat" panose="00000500000000000000" pitchFamily="2" charset="-52"/>
              </a:rPr>
              <a:t> = 1 × 4 × 12 Gb/s</a:t>
            </a:r>
            <a:r>
              <a:rPr lang="ru-RU" sz="2800" dirty="0">
                <a:latin typeface="Montserrat" panose="00000500000000000000" pitchFamily="2" charset="-52"/>
              </a:rPr>
              <a:t>=48</a:t>
            </a:r>
            <a:r>
              <a:rPr lang="en-US" sz="2800" dirty="0">
                <a:latin typeface="Montserrat" panose="00000500000000000000" pitchFamily="2" charset="-52"/>
              </a:rPr>
              <a:t> Gb/s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F17319-BEB0-FD39-61A5-F30C4D152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770" y="1788363"/>
            <a:ext cx="7557470" cy="4790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F07BE2-4EB7-882C-4B38-2CEFC625B92A}"/>
              </a:ext>
            </a:extLst>
          </p:cNvPr>
          <p:cNvSpPr txBox="1"/>
          <p:nvPr/>
        </p:nvSpPr>
        <p:spPr>
          <a:xfrm>
            <a:off x="186014" y="1806632"/>
            <a:ext cx="349190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Пропускная способность для каждого диска: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 48</a:t>
            </a:r>
            <a:r>
              <a:rPr lang="en-US" sz="2800" dirty="0">
                <a:latin typeface="Montserrat" panose="00000500000000000000" pitchFamily="2" charset="-52"/>
              </a:rPr>
              <a:t> Gb/s</a:t>
            </a:r>
            <a:r>
              <a:rPr lang="ru-RU" sz="2800" dirty="0">
                <a:latin typeface="Montserrat" panose="00000500000000000000" pitchFamily="2" charset="-52"/>
              </a:rPr>
              <a:t> </a:t>
            </a:r>
            <a:r>
              <a:rPr lang="en-US" sz="2800" dirty="0">
                <a:latin typeface="Montserrat" panose="00000500000000000000" pitchFamily="2" charset="-52"/>
              </a:rPr>
              <a:t>/ 12 = 4 Gb/s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 </a:t>
            </a:r>
            <a:endParaRPr lang="en-US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4918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EC74-C580-8F89-6A0D-676BBEFC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F2D4C7-C1DD-37FC-785D-161597125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8E0DA3B-9162-CC22-31CC-C3B06D7DE5A8}"/>
              </a:ext>
            </a:extLst>
          </p:cNvPr>
          <p:cNvSpPr txBox="1">
            <a:spLocks/>
          </p:cNvSpPr>
          <p:nvPr/>
        </p:nvSpPr>
        <p:spPr>
          <a:xfrm>
            <a:off x="186018" y="101477"/>
            <a:ext cx="11819964" cy="616759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Распределение дисков с одним портом между контроллерами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7AC81-7BDA-F2E4-8EFD-2BDE46DD3D4E}"/>
              </a:ext>
            </a:extLst>
          </p:cNvPr>
          <p:cNvSpPr txBox="1"/>
          <p:nvPr/>
        </p:nvSpPr>
        <p:spPr>
          <a:xfrm>
            <a:off x="186018" y="409857"/>
            <a:ext cx="118199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Montserrat" panose="00000500000000000000" pitchFamily="2" charset="-52"/>
              </a:rPr>
              <a:t>Используется </a:t>
            </a:r>
            <a:r>
              <a:rPr lang="en-US" sz="3200" dirty="0">
                <a:latin typeface="Montserrat" panose="00000500000000000000" pitchFamily="2" charset="-52"/>
              </a:rPr>
              <a:t>SAS expander</a:t>
            </a:r>
            <a:r>
              <a:rPr lang="ru-RU" sz="3200" dirty="0">
                <a:latin typeface="Montserrat" panose="00000500000000000000" pitchFamily="2" charset="-52"/>
              </a:rPr>
              <a:t>, к нему подключается диск</a:t>
            </a:r>
          </a:p>
          <a:p>
            <a:pPr algn="just"/>
            <a:r>
              <a:rPr lang="ru-RU" sz="3200" dirty="0">
                <a:latin typeface="Montserrat" panose="00000500000000000000" pitchFamily="2" charset="-52"/>
              </a:rPr>
              <a:t>Контроллер А владеет диском, контроллер Б видит его, но не использует. Но при отказе фиксируется отказ контроллера А, контроллер это видит и забирает владение диском.</a:t>
            </a:r>
          </a:p>
          <a:p>
            <a:pPr algn="just"/>
            <a:r>
              <a:rPr lang="ru-RU" sz="3200" dirty="0">
                <a:latin typeface="Montserrat" panose="00000500000000000000" pitchFamily="2" charset="-52"/>
              </a:rPr>
              <a:t>Как это все выглядит:</a:t>
            </a:r>
          </a:p>
          <a:p>
            <a:pPr marL="457200" indent="-457200" algn="just">
              <a:buAutoNum type="arabicPeriod"/>
            </a:pPr>
            <a:r>
              <a:rPr lang="ru-RU" sz="3200" dirty="0">
                <a:latin typeface="Montserrat" panose="00000500000000000000" pitchFamily="2" charset="-52"/>
              </a:rPr>
              <a:t>В </a:t>
            </a:r>
            <a:r>
              <a:rPr lang="en-US" sz="3200" dirty="0">
                <a:latin typeface="Montserrat" panose="00000500000000000000" pitchFamily="2" charset="-52"/>
              </a:rPr>
              <a:t>JBOD </a:t>
            </a:r>
            <a:r>
              <a:rPr lang="ru-RU" sz="3200" dirty="0">
                <a:latin typeface="Montserrat" panose="00000500000000000000" pitchFamily="2" charset="-52"/>
              </a:rPr>
              <a:t>в </a:t>
            </a:r>
            <a:r>
              <a:rPr lang="ru-RU" sz="3200" dirty="0" err="1">
                <a:latin typeface="Montserrat" panose="00000500000000000000" pitchFamily="2" charset="-52"/>
              </a:rPr>
              <a:t>бэкплейн</a:t>
            </a:r>
            <a:r>
              <a:rPr lang="ru-RU" sz="3200" dirty="0">
                <a:latin typeface="Montserrat" panose="00000500000000000000" pitchFamily="2" charset="-52"/>
              </a:rPr>
              <a:t> с экспандером подключены диски</a:t>
            </a:r>
          </a:p>
          <a:p>
            <a:pPr marL="457200" indent="-457200" algn="just">
              <a:buAutoNum type="arabicPeriod"/>
            </a:pPr>
            <a:r>
              <a:rPr lang="ru-RU" sz="3200" dirty="0">
                <a:latin typeface="Montserrat" panose="00000500000000000000" pitchFamily="2" charset="-52"/>
              </a:rPr>
              <a:t>От </a:t>
            </a:r>
            <a:r>
              <a:rPr lang="ru-RU" sz="3200" dirty="0" err="1">
                <a:latin typeface="Montserrat" panose="00000500000000000000" pitchFamily="2" charset="-52"/>
              </a:rPr>
              <a:t>бэкплейна</a:t>
            </a:r>
            <a:r>
              <a:rPr lang="ru-RU" sz="3200" dirty="0">
                <a:latin typeface="Montserrat" panose="00000500000000000000" pitchFamily="2" charset="-52"/>
              </a:rPr>
              <a:t> идут два отдельных линка</a:t>
            </a:r>
          </a:p>
        </p:txBody>
      </p:sp>
    </p:spTree>
    <p:extLst>
      <p:ext uri="{BB962C8B-B14F-4D97-AF65-F5344CB8AC3E}">
        <p14:creationId xmlns:p14="http://schemas.microsoft.com/office/powerpoint/2010/main" val="263733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63F6-0CAB-69DD-1056-D5DACD4D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4CAAA0-3265-2BCC-2166-4DF48BFE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9948776-4A73-E271-ADE0-06E7E396094B}"/>
              </a:ext>
            </a:extLst>
          </p:cNvPr>
          <p:cNvSpPr txBox="1">
            <a:spLocks/>
          </p:cNvSpPr>
          <p:nvPr/>
        </p:nvSpPr>
        <p:spPr>
          <a:xfrm>
            <a:off x="186018" y="0"/>
            <a:ext cx="11819964" cy="6167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Сеть и</a:t>
            </a:r>
            <a:r>
              <a:rPr lang="en-US" sz="3600" dirty="0">
                <a:latin typeface="Montserrat" panose="00000500000000000000" pitchFamily="2" charset="-52"/>
              </a:rPr>
              <a:t> IOPS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501D2-EB03-1A5A-8E90-91C27E99413C}"/>
              </a:ext>
            </a:extLst>
          </p:cNvPr>
          <p:cNvSpPr txBox="1"/>
          <p:nvPr/>
        </p:nvSpPr>
        <p:spPr>
          <a:xfrm>
            <a:off x="186018" y="409857"/>
            <a:ext cx="118199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Montserrat" panose="00000500000000000000" pitchFamily="2" charset="-52"/>
              </a:rPr>
              <a:t>Пропускная способность(МБ</a:t>
            </a:r>
            <a:r>
              <a:rPr lang="en-US" sz="3200" dirty="0">
                <a:latin typeface="Montserrat" panose="00000500000000000000" pitchFamily="2" charset="-52"/>
              </a:rPr>
              <a:t>/</a:t>
            </a:r>
            <a:r>
              <a:rPr lang="ru-RU" sz="3200" dirty="0">
                <a:latin typeface="Montserrat" panose="00000500000000000000" pitchFamily="2" charset="-52"/>
              </a:rPr>
              <a:t>с) =  </a:t>
            </a:r>
            <a:r>
              <a:rPr lang="en-US" sz="3200" dirty="0">
                <a:latin typeface="Montserrat" panose="00000500000000000000" pitchFamily="2" charset="-52"/>
              </a:rPr>
              <a:t>(IOPS*Block)/1024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Block -  </a:t>
            </a:r>
            <a:r>
              <a:rPr lang="ru-RU" sz="3200" dirty="0">
                <a:latin typeface="Montserrat" panose="00000500000000000000" pitchFamily="2" charset="-52"/>
              </a:rPr>
              <a:t>размер блока(4</a:t>
            </a:r>
            <a:r>
              <a:rPr lang="en-US" sz="3200" dirty="0">
                <a:latin typeface="Montserrat" panose="00000500000000000000" pitchFamily="2" charset="-52"/>
              </a:rPr>
              <a:t>KB, 8KB,16KB,64KB</a:t>
            </a:r>
            <a:r>
              <a:rPr lang="ru-RU" sz="3200" dirty="0">
                <a:latin typeface="Montserrat" panose="00000500000000000000" pitchFamily="2" charset="-52"/>
              </a:rPr>
              <a:t>)</a:t>
            </a:r>
            <a:endParaRPr lang="en-US" sz="3200" dirty="0">
              <a:latin typeface="Montserrat" panose="00000500000000000000" pitchFamily="2" charset="-52"/>
            </a:endParaRP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IOPS = </a:t>
            </a:r>
            <a:r>
              <a:rPr lang="ru-RU" sz="3200" dirty="0">
                <a:latin typeface="Montserrat" panose="00000500000000000000" pitchFamily="2" charset="-52"/>
              </a:rPr>
              <a:t>Пропускная способность</a:t>
            </a:r>
            <a:r>
              <a:rPr lang="en-US" sz="3200" dirty="0">
                <a:latin typeface="Montserrat" panose="00000500000000000000" pitchFamily="2" charset="-52"/>
              </a:rPr>
              <a:t>*1024/Block</a:t>
            </a:r>
          </a:p>
          <a:p>
            <a:pPr algn="just"/>
            <a:r>
              <a:rPr lang="ru-RU" sz="3200" dirty="0">
                <a:latin typeface="Montserrat" panose="00000500000000000000" pitchFamily="2" charset="-52"/>
              </a:rPr>
              <a:t>Также  можно  учитывать  расход  протоколов</a:t>
            </a:r>
          </a:p>
        </p:txBody>
      </p:sp>
    </p:spTree>
    <p:extLst>
      <p:ext uri="{BB962C8B-B14F-4D97-AF65-F5344CB8AC3E}">
        <p14:creationId xmlns:p14="http://schemas.microsoft.com/office/powerpoint/2010/main" val="397380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CECB-C4C3-0410-20B2-12ECBCBA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3B16B2-94DB-BF9D-2837-82B80666D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6F7A5BB-2E6F-31CF-5E25-3084A05D6B20}"/>
              </a:ext>
            </a:extLst>
          </p:cNvPr>
          <p:cNvSpPr txBox="1">
            <a:spLocks/>
          </p:cNvSpPr>
          <p:nvPr/>
        </p:nvSpPr>
        <p:spPr>
          <a:xfrm>
            <a:off x="186015" y="-89375"/>
            <a:ext cx="11819964" cy="6167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Montserrat" panose="00000500000000000000" pitchFamily="2" charset="-52"/>
              </a:rPr>
              <a:t>Таблица  маршрутизации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A7A1404-19F3-19ED-685F-90F179C02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990" y="2918601"/>
            <a:ext cx="6637989" cy="373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6011D5-453C-06CA-877F-EE6B2BB7530C}"/>
              </a:ext>
            </a:extLst>
          </p:cNvPr>
          <p:cNvSpPr txBox="1"/>
          <p:nvPr/>
        </p:nvSpPr>
        <p:spPr>
          <a:xfrm>
            <a:off x="-3" y="527384"/>
            <a:ext cx="53173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Montserrat" panose="00000500000000000000" pitchFamily="2" charset="-52"/>
              </a:rPr>
              <a:t>RT1: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172.16.17.0/24 via 172.16.2.2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RT2: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172.16.17.0/24 via 172.16.2.6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172.16.3.0/24 via 172.16.2.1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RT3: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172.16.3.0/24 via 172.16.2.5</a:t>
            </a:r>
          </a:p>
          <a:p>
            <a:pPr algn="just"/>
            <a:endParaRPr lang="en-US" sz="3200" dirty="0">
              <a:latin typeface="Montserrat" panose="00000500000000000000" pitchFamily="2" charset="-52"/>
            </a:endParaRPr>
          </a:p>
          <a:p>
            <a:pPr algn="just"/>
            <a:endParaRPr lang="en-US" sz="3200" dirty="0">
              <a:latin typeface="Montserrat" panose="00000500000000000000" pitchFamily="2" charset="-52"/>
            </a:endParaRPr>
          </a:p>
          <a:p>
            <a:pPr algn="just"/>
            <a:endParaRPr lang="en-US" sz="3200" dirty="0"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9FC49-9D82-606D-7925-BCBA09D685A4}"/>
              </a:ext>
            </a:extLst>
          </p:cNvPr>
          <p:cNvSpPr txBox="1"/>
          <p:nvPr/>
        </p:nvSpPr>
        <p:spPr>
          <a:xfrm>
            <a:off x="3285190" y="793535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FF0000"/>
                </a:solidFill>
                <a:latin typeface="Montserrat" panose="00000500000000000000" pitchFamily="2" charset="-52"/>
              </a:rPr>
              <a:t>Сеть назначения – Адрес куда отправить пакет </a:t>
            </a:r>
          </a:p>
        </p:txBody>
      </p:sp>
    </p:spTree>
    <p:extLst>
      <p:ext uri="{BB962C8B-B14F-4D97-AF65-F5344CB8AC3E}">
        <p14:creationId xmlns:p14="http://schemas.microsoft.com/office/powerpoint/2010/main" val="80051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3D6FF5-E33C-9825-3A41-4F5422E0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1A8550-DB40-300D-810C-F1705D6D3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0AC5A98-B7EA-35A4-8CDA-B0891A500814}"/>
              </a:ext>
            </a:extLst>
          </p:cNvPr>
          <p:cNvSpPr txBox="1">
            <a:spLocks/>
          </p:cNvSpPr>
          <p:nvPr/>
        </p:nvSpPr>
        <p:spPr>
          <a:xfrm>
            <a:off x="186018" y="0"/>
            <a:ext cx="11819964" cy="6167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Montserrat" panose="00000500000000000000" pitchFamily="2" charset="-52"/>
              </a:rPr>
              <a:t>MPLS </a:t>
            </a:r>
            <a:r>
              <a:rPr lang="ru-RU" sz="3600" dirty="0">
                <a:latin typeface="Montserrat" panose="00000500000000000000" pitchFamily="2" charset="-52"/>
              </a:rPr>
              <a:t>и </a:t>
            </a:r>
            <a:r>
              <a:rPr lang="en-US" sz="3600" dirty="0">
                <a:latin typeface="Montserrat" panose="00000500000000000000" pitchFamily="2" charset="-52"/>
              </a:rPr>
              <a:t>BGP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D46C3-E9AE-A41F-4DF2-024AD6F97CD2}"/>
              </a:ext>
            </a:extLst>
          </p:cNvPr>
          <p:cNvSpPr txBox="1"/>
          <p:nvPr/>
        </p:nvSpPr>
        <p:spPr>
          <a:xfrm>
            <a:off x="186018" y="409857"/>
            <a:ext cx="118199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Montserrat" panose="00000500000000000000" pitchFamily="2" charset="-52"/>
              </a:rPr>
              <a:t>MPLS </a:t>
            </a:r>
            <a:r>
              <a:rPr lang="ru-RU" sz="3200" dirty="0">
                <a:latin typeface="Montserrat" panose="00000500000000000000" pitchFamily="2" charset="-52"/>
              </a:rPr>
              <a:t>нужен для:</a:t>
            </a:r>
          </a:p>
          <a:p>
            <a:pPr marL="457200" indent="-457200" algn="just">
              <a:buFontTx/>
              <a:buChar char="-"/>
            </a:pPr>
            <a:r>
              <a:rPr lang="ru-RU" sz="3200" dirty="0">
                <a:latin typeface="Montserrat" panose="00000500000000000000" pitchFamily="2" charset="-52"/>
              </a:rPr>
              <a:t>Ускорение пересылки, снижение нагрузки</a:t>
            </a:r>
          </a:p>
          <a:p>
            <a:pPr marL="457200" indent="-457200" algn="just">
              <a:buFontTx/>
              <a:buChar char="-"/>
            </a:pPr>
            <a:r>
              <a:rPr lang="ru-RU" sz="3200" dirty="0">
                <a:latin typeface="Montserrat" panose="00000500000000000000" pitchFamily="2" charset="-52"/>
              </a:rPr>
              <a:t>Поддержка нескольких изолированных </a:t>
            </a:r>
            <a:r>
              <a:rPr lang="en-US" sz="3200" dirty="0">
                <a:latin typeface="Montserrat" panose="00000500000000000000" pitchFamily="2" charset="-52"/>
              </a:rPr>
              <a:t>VPN</a:t>
            </a:r>
          </a:p>
          <a:p>
            <a:pPr marL="457200" indent="-457200" algn="just">
              <a:buFontTx/>
              <a:buChar char="-"/>
            </a:pPr>
            <a:r>
              <a:rPr lang="ru-RU" sz="3200" dirty="0">
                <a:latin typeface="Montserrat" panose="00000500000000000000" pitchFamily="2" charset="-52"/>
              </a:rPr>
              <a:t>Использование разных меток</a:t>
            </a:r>
          </a:p>
          <a:p>
            <a:pPr algn="just"/>
            <a:r>
              <a:rPr lang="en-US" sz="3200" dirty="0">
                <a:latin typeface="Montserrat" panose="00000500000000000000" pitchFamily="2" charset="-52"/>
              </a:rPr>
              <a:t>BGP:</a:t>
            </a:r>
            <a:endParaRPr lang="ru-RU" sz="3200" dirty="0">
              <a:latin typeface="Montserrat" panose="00000500000000000000" pitchFamily="2" charset="-52"/>
            </a:endParaRPr>
          </a:p>
          <a:p>
            <a:pPr marL="457200" indent="-457200" algn="just">
              <a:buFontTx/>
              <a:buChar char="-"/>
            </a:pPr>
            <a:r>
              <a:rPr lang="ru-RU" sz="3200" dirty="0">
                <a:latin typeface="Montserrat" panose="00000500000000000000" pitchFamily="2" charset="-52"/>
              </a:rPr>
              <a:t>Уникальные маршруты(</a:t>
            </a:r>
            <a:r>
              <a:rPr lang="en-US" sz="3200" dirty="0">
                <a:latin typeface="Montserrat" panose="00000500000000000000" pitchFamily="2" charset="-52"/>
              </a:rPr>
              <a:t>RD</a:t>
            </a:r>
            <a:r>
              <a:rPr lang="ru-RU" sz="3200" dirty="0">
                <a:latin typeface="Montserrat" panose="00000500000000000000" pitchFamily="2" charset="-52"/>
              </a:rPr>
              <a:t>)</a:t>
            </a:r>
            <a:endParaRPr lang="en-US" sz="3200" dirty="0">
              <a:latin typeface="Montserrat" panose="00000500000000000000" pitchFamily="2" charset="-52"/>
            </a:endParaRPr>
          </a:p>
          <a:p>
            <a:pPr marL="457200" indent="-457200" algn="just">
              <a:buFontTx/>
              <a:buChar char="-"/>
            </a:pPr>
            <a:r>
              <a:rPr lang="ru-RU" sz="3200" dirty="0">
                <a:latin typeface="Montserrat" panose="00000500000000000000" pitchFamily="2" charset="-52"/>
              </a:rPr>
              <a:t>Понимание какую </a:t>
            </a:r>
            <a:r>
              <a:rPr lang="en-US" sz="3200" dirty="0">
                <a:latin typeface="Montserrat" panose="00000500000000000000" pitchFamily="2" charset="-52"/>
              </a:rPr>
              <a:t>VRF </a:t>
            </a:r>
            <a:r>
              <a:rPr lang="ru-RU" sz="3200" dirty="0">
                <a:latin typeface="Montserrat" panose="00000500000000000000" pitchFamily="2" charset="-52"/>
              </a:rPr>
              <a:t>использовать</a:t>
            </a:r>
          </a:p>
        </p:txBody>
      </p:sp>
    </p:spTree>
    <p:extLst>
      <p:ext uri="{BB962C8B-B14F-4D97-AF65-F5344CB8AC3E}">
        <p14:creationId xmlns:p14="http://schemas.microsoft.com/office/powerpoint/2010/main" val="406605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2AA7-A6EC-0900-8DED-F9F2DDB2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770F30-E6F6-8399-14E6-8940EA115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340BD73-9740-7EF5-E82C-33BC6F1A4975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БД  и СУБД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7BAC1-049E-F77D-295B-BC58EA005FE2}"/>
              </a:ext>
            </a:extLst>
          </p:cNvPr>
          <p:cNvSpPr txBox="1"/>
          <p:nvPr/>
        </p:nvSpPr>
        <p:spPr>
          <a:xfrm>
            <a:off x="186018" y="409857"/>
            <a:ext cx="1181996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База данных — это организованная коллекция данных, которая позволяет удобно хранить, управлять и извлекать информацию.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Входят в нее:</a:t>
            </a:r>
          </a:p>
          <a:p>
            <a:pPr marL="342900" indent="-3429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Данные</a:t>
            </a:r>
          </a:p>
          <a:p>
            <a:pPr marL="342900" indent="-3429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Система управления базами данных  — ПО, которое позволяет пользователям взаимодействовать с БД. Функции:</a:t>
            </a:r>
          </a:p>
          <a:p>
            <a:pPr marL="457200" indent="-457200" algn="just">
              <a:buAutoNum type="arabicPeriod"/>
            </a:pPr>
            <a:r>
              <a:rPr lang="ru-RU" sz="2600" dirty="0">
                <a:latin typeface="Montserrat" panose="00000500000000000000" pitchFamily="2" charset="-52"/>
              </a:rPr>
              <a:t>Управление  данными во внешней памяти</a:t>
            </a:r>
          </a:p>
          <a:p>
            <a:pPr marL="457200" indent="-457200" algn="just">
              <a:buAutoNum type="arabicPeriod"/>
            </a:pPr>
            <a:r>
              <a:rPr lang="ru-RU" sz="2600" dirty="0">
                <a:latin typeface="Montserrat" panose="00000500000000000000" pitchFamily="2" charset="-52"/>
              </a:rPr>
              <a:t>Управление транзакциями</a:t>
            </a:r>
          </a:p>
          <a:p>
            <a:pPr marL="457200" indent="-457200" algn="just">
              <a:buAutoNum type="arabicPeriod"/>
            </a:pPr>
            <a:r>
              <a:rPr lang="ru-RU" sz="2600" dirty="0">
                <a:latin typeface="Montserrat" panose="00000500000000000000" pitchFamily="2" charset="-52"/>
              </a:rPr>
              <a:t>Восстановление БД</a:t>
            </a:r>
          </a:p>
          <a:p>
            <a:pPr marL="457200" indent="-457200" algn="just">
              <a:buAutoNum type="arabicPeriod"/>
            </a:pPr>
            <a:r>
              <a:rPr lang="ru-RU" sz="2600" dirty="0">
                <a:latin typeface="Montserrat" panose="00000500000000000000" pitchFamily="2" charset="-52"/>
              </a:rPr>
              <a:t>Контроль доступа к  данным</a:t>
            </a:r>
          </a:p>
          <a:p>
            <a:pPr marL="342900" indent="-3429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Язык запросов, который используется для выполнения операций с базой данных, таких как извлечение, вставка, обновление и удаление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106939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30D6-E290-C170-206F-EBEC44B2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9399DF-8CE9-5B5D-FC76-A21BF2DDB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C16395D-9400-2397-31DD-A889F62E26B2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Классификация БД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6A412-BFC2-D33E-808C-A9094B5CE819}"/>
              </a:ext>
            </a:extLst>
          </p:cNvPr>
          <p:cNvSpPr txBox="1"/>
          <p:nvPr/>
        </p:nvSpPr>
        <p:spPr>
          <a:xfrm>
            <a:off x="186018" y="409857"/>
            <a:ext cx="629944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По модели данных: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Сетевые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Иерархические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Реляционные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объектно-реляционные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объектно-ориентированные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Montserrat" panose="00000500000000000000" pitchFamily="2" charset="-52"/>
              </a:rPr>
              <a:t>NoSQL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а)документно-ориентированные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б)ключ-значение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в) графовые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г) колоночная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По технологии обработки данных: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Централизованные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Распределенные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E2F20-6118-9860-6093-0E9775830500}"/>
              </a:ext>
            </a:extLst>
          </p:cNvPr>
          <p:cNvSpPr txBox="1"/>
          <p:nvPr/>
        </p:nvSpPr>
        <p:spPr>
          <a:xfrm>
            <a:off x="5596089" y="409857"/>
            <a:ext cx="629944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600" dirty="0">
                <a:latin typeface="Montserrat" panose="00000500000000000000" pitchFamily="2" charset="-52"/>
              </a:rPr>
              <a:t>По способу хранения:</a:t>
            </a:r>
          </a:p>
          <a:p>
            <a:pPr marL="457200" indent="-457200" algn="r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Резидентные</a:t>
            </a:r>
          </a:p>
          <a:p>
            <a:pPr marL="457200" indent="-457200" algn="r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Дисковые</a:t>
            </a:r>
          </a:p>
          <a:p>
            <a:pPr algn="r"/>
            <a:r>
              <a:rPr lang="ru-RU" sz="2600" dirty="0">
                <a:latin typeface="Montserrat" panose="00000500000000000000" pitchFamily="2" charset="-52"/>
              </a:rPr>
              <a:t>По назначению:</a:t>
            </a:r>
          </a:p>
          <a:p>
            <a:pPr marL="457200" indent="-457200" algn="r">
              <a:buFontTx/>
              <a:buChar char="-"/>
            </a:pPr>
            <a:r>
              <a:rPr lang="en-US" sz="2600" dirty="0">
                <a:latin typeface="Montserrat" panose="00000500000000000000" pitchFamily="2" charset="-52"/>
              </a:rPr>
              <a:t>OLTP</a:t>
            </a:r>
            <a:endParaRPr lang="ru-RU" sz="2600" dirty="0">
              <a:latin typeface="Montserrat" panose="00000500000000000000" pitchFamily="2" charset="-52"/>
            </a:endParaRPr>
          </a:p>
          <a:p>
            <a:pPr marL="457200" indent="-457200" algn="r">
              <a:buFontTx/>
              <a:buChar char="-"/>
            </a:pPr>
            <a:r>
              <a:rPr lang="en-US" sz="2600" dirty="0">
                <a:latin typeface="Montserrat" panose="00000500000000000000" pitchFamily="2" charset="-52"/>
              </a:rPr>
              <a:t>OLAP</a:t>
            </a:r>
            <a:endParaRPr lang="ru-RU" sz="26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2412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AF28-61B4-27B6-457A-7FA25971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204676D-8EE7-61C0-0ED4-E9279997B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32671F4-8EEC-8F7F-DD93-C55D9C192FE3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Иерархическая модель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AC2AA-53F4-2EE4-3CA3-474FFBDFB599}"/>
              </a:ext>
            </a:extLst>
          </p:cNvPr>
          <p:cNvSpPr txBox="1"/>
          <p:nvPr/>
        </p:nvSpPr>
        <p:spPr>
          <a:xfrm>
            <a:off x="186018" y="409857"/>
            <a:ext cx="11870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Связный граф  в виде дерева, в виде отношений "предок-потомок"</a:t>
            </a:r>
          </a:p>
        </p:txBody>
      </p:sp>
      <p:pic>
        <p:nvPicPr>
          <p:cNvPr id="2050" name="Picture 2" descr="Пример иерархической базы данных">
            <a:extLst>
              <a:ext uri="{FF2B5EF4-FFF2-40B4-BE49-F238E27FC236}">
                <a16:creationId xmlns:a16="http://schemas.microsoft.com/office/drawing/2014/main" id="{2A22AF4C-5E9E-6DF9-EB56-0ABBB1D04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0116" y="1065723"/>
            <a:ext cx="6706417" cy="562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81F14-A190-1300-B352-3206D622D65D}"/>
              </a:ext>
            </a:extLst>
          </p:cNvPr>
          <p:cNvSpPr txBox="1"/>
          <p:nvPr/>
        </p:nvSpPr>
        <p:spPr>
          <a:xfrm>
            <a:off x="236940" y="984532"/>
            <a:ext cx="487623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Простота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Целостность ссылок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Негибкость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Сложность изменения схемы</a:t>
            </a:r>
          </a:p>
        </p:txBody>
      </p:sp>
    </p:spTree>
    <p:extLst>
      <p:ext uri="{BB962C8B-B14F-4D97-AF65-F5344CB8AC3E}">
        <p14:creationId xmlns:p14="http://schemas.microsoft.com/office/powerpoint/2010/main" val="87711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F1FA-55B6-DB3B-D4C9-38BA3FFE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246AE8-34C4-A888-A2EF-8E1F29A35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05C5472-F0C6-47A0-F527-3E04FD589D7E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Сетевая модель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3551B-36CD-86CC-7894-4A926AD2AC15}"/>
              </a:ext>
            </a:extLst>
          </p:cNvPr>
          <p:cNvSpPr txBox="1"/>
          <p:nvPr/>
        </p:nvSpPr>
        <p:spPr>
          <a:xfrm>
            <a:off x="186018" y="409857"/>
            <a:ext cx="11870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Расширение  иерархической модели, но нет  строгой иерархии</a:t>
            </a:r>
          </a:p>
        </p:txBody>
      </p:sp>
      <p:pic>
        <p:nvPicPr>
          <p:cNvPr id="1026" name="Picture 2" descr="Сетевая модель базы данных">
            <a:extLst>
              <a:ext uri="{FF2B5EF4-FFF2-40B4-BE49-F238E27FC236}">
                <a16:creationId xmlns:a16="http://schemas.microsoft.com/office/drawing/2014/main" id="{046266E3-28F5-4AA7-8718-A1542D9A4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305" y="1255364"/>
            <a:ext cx="7396692" cy="519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9E7E3F-6A4E-F882-9C69-542371B63828}"/>
              </a:ext>
            </a:extLst>
          </p:cNvPr>
          <p:cNvSpPr txBox="1"/>
          <p:nvPr/>
        </p:nvSpPr>
        <p:spPr>
          <a:xfrm>
            <a:off x="236940" y="984531"/>
            <a:ext cx="455836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Гибкость связей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Узкая специализация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Сложность изменения схемы</a:t>
            </a:r>
          </a:p>
        </p:txBody>
      </p:sp>
    </p:spTree>
    <p:extLst>
      <p:ext uri="{BB962C8B-B14F-4D97-AF65-F5344CB8AC3E}">
        <p14:creationId xmlns:p14="http://schemas.microsoft.com/office/powerpoint/2010/main" val="258734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60C8-23AD-EEEC-BC66-708A5EAD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E491405-42E8-44DD-1D74-5B6A88DFA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F486CFF-7E02-C8A1-469C-8D0856B8CFDD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Реляционная модель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0790C-C91F-338C-E8B7-C831BAC89DA6}"/>
              </a:ext>
            </a:extLst>
          </p:cNvPr>
          <p:cNvSpPr txBox="1"/>
          <p:nvPr/>
        </p:nvSpPr>
        <p:spPr>
          <a:xfrm>
            <a:off x="186018" y="409857"/>
            <a:ext cx="1187051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Реляционная база данных — это тип БД, организованный в виде связанных таблиц</a:t>
            </a:r>
          </a:p>
        </p:txBody>
      </p:sp>
      <p:pic>
        <p:nvPicPr>
          <p:cNvPr id="4098" name="Picture 2" descr="Реляционные базы данных — Интерактивный курс по SQL">
            <a:extLst>
              <a:ext uri="{FF2B5EF4-FFF2-40B4-BE49-F238E27FC236}">
                <a16:creationId xmlns:a16="http://schemas.microsoft.com/office/drawing/2014/main" id="{9BA41621-604B-F7E2-23C4-997A3C01B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067" y="1107245"/>
            <a:ext cx="7045855" cy="552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133ADB-9380-FDDB-B76F-ABF356271E08}"/>
              </a:ext>
            </a:extLst>
          </p:cNvPr>
          <p:cNvSpPr txBox="1"/>
          <p:nvPr/>
        </p:nvSpPr>
        <p:spPr>
          <a:xfrm>
            <a:off x="186018" y="1213325"/>
            <a:ext cx="455836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Математическая основа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Montserrat" panose="00000500000000000000" pitchFamily="2" charset="-52"/>
              </a:rPr>
              <a:t>ACID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Есть  язык запросов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Сложность изменения схемы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Производительность при сложных транзакциях</a:t>
            </a:r>
          </a:p>
        </p:txBody>
      </p:sp>
    </p:spTree>
    <p:extLst>
      <p:ext uri="{BB962C8B-B14F-4D97-AF65-F5344CB8AC3E}">
        <p14:creationId xmlns:p14="http://schemas.microsoft.com/office/powerpoint/2010/main" val="391872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F224-BEBF-747B-B88B-1E1F25CC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36B885-9D65-55F6-D128-C06459C88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0F81C44-5863-A9A5-B4E7-5E35A0CCE43B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Объектно-ориентированная модель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3E015-AF8E-F945-D4EC-9CA3B1B218B9}"/>
              </a:ext>
            </a:extLst>
          </p:cNvPr>
          <p:cNvSpPr txBox="1"/>
          <p:nvPr/>
        </p:nvSpPr>
        <p:spPr>
          <a:xfrm>
            <a:off x="169084" y="375991"/>
            <a:ext cx="1187051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Объектно-ориентированные базы данных это </a:t>
            </a:r>
            <a:r>
              <a:rPr lang="ru-RU" sz="2400" dirty="0">
                <a:latin typeface="Montserrat" panose="00000500000000000000" pitchFamily="2" charset="-52"/>
              </a:rPr>
              <a:t>БД</a:t>
            </a:r>
            <a:r>
              <a:rPr lang="ru-RU" sz="2600" dirty="0">
                <a:latin typeface="Montserrat" panose="00000500000000000000" pitchFamily="2" charset="-52"/>
              </a:rPr>
              <a:t>, где информация представлена в виде объектов, как в объектно-ориентированных языках программирования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F2AEB7F-DA92-5FC6-7EBB-EB116A65C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941" y="1292619"/>
            <a:ext cx="6773056" cy="427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57E203-0DB9-9B79-DEC2-B145E5D83F8C}"/>
              </a:ext>
            </a:extLst>
          </p:cNvPr>
          <p:cNvSpPr txBox="1"/>
          <p:nvPr/>
        </p:nvSpPr>
        <p:spPr>
          <a:xfrm>
            <a:off x="169084" y="1668653"/>
            <a:ext cx="455836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Соответствие ООП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Простота разработки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Производительность при сложных моделях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Нет единого языка</a:t>
            </a:r>
          </a:p>
        </p:txBody>
      </p:sp>
    </p:spTree>
    <p:extLst>
      <p:ext uri="{BB962C8B-B14F-4D97-AF65-F5344CB8AC3E}">
        <p14:creationId xmlns:p14="http://schemas.microsoft.com/office/powerpoint/2010/main" val="51358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759CF-9F44-14F1-D05E-A2DBC1A3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3A2527-F7DA-D6CF-DDBF-25DCB2D54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B8C759F-C9F9-8B29-10C0-43F81CA53A7F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Ключ-значение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1537D-28C3-A298-58F1-A71D6ACFB018}"/>
              </a:ext>
            </a:extLst>
          </p:cNvPr>
          <p:cNvSpPr txBox="1"/>
          <p:nvPr/>
        </p:nvSpPr>
        <p:spPr>
          <a:xfrm>
            <a:off x="186018" y="409857"/>
            <a:ext cx="118705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Данные как совокупность пар «ключ-значение», в которых ключ служит уникальным идентификатором.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3E0A37E-D103-1C0D-EA87-C9F0A9148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275" y="985061"/>
            <a:ext cx="5660732" cy="375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80EE74-1B88-5C87-308D-7B09E358CC35}"/>
              </a:ext>
            </a:extLst>
          </p:cNvPr>
          <p:cNvSpPr txBox="1"/>
          <p:nvPr/>
        </p:nvSpPr>
        <p:spPr>
          <a:xfrm>
            <a:off x="186018" y="1240854"/>
            <a:ext cx="530038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Низкая задержка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Простота разработки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Ограниченные запросы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Нет  связей</a:t>
            </a:r>
          </a:p>
        </p:txBody>
      </p:sp>
    </p:spTree>
    <p:extLst>
      <p:ext uri="{BB962C8B-B14F-4D97-AF65-F5344CB8AC3E}">
        <p14:creationId xmlns:p14="http://schemas.microsoft.com/office/powerpoint/2010/main" val="177022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5A3BA-3D86-C10A-2EF2-BFECC909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8FD030-45D4-55BC-2058-E9720715E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535ACFA-62D6-0AD1-DB60-C734365A307F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Графовая модель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9CB99-2A00-F5A7-F4B7-280E6DD38553}"/>
              </a:ext>
            </a:extLst>
          </p:cNvPr>
          <p:cNvSpPr txBox="1"/>
          <p:nvPr/>
        </p:nvSpPr>
        <p:spPr>
          <a:xfrm>
            <a:off x="186018" y="409857"/>
            <a:ext cx="118705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Графовая модель данных строится на основе графа, который состоит из вершин (узлов) и ребер (связей) между ними.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DAFAEF-59E9-D2EC-7CD7-F0C9A89C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462" y="3103284"/>
            <a:ext cx="7112000" cy="37218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9F360D-84F1-153E-6B0C-905FF3094EAA}"/>
              </a:ext>
            </a:extLst>
          </p:cNvPr>
          <p:cNvSpPr txBox="1"/>
          <p:nvPr/>
        </p:nvSpPr>
        <p:spPr>
          <a:xfrm>
            <a:off x="186018" y="1240854"/>
            <a:ext cx="513104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 Моделирование сложных отношений</a:t>
            </a:r>
          </a:p>
          <a:p>
            <a:pPr marL="457200" indent="-457200" algn="just">
              <a:buFontTx/>
              <a:buChar char="-"/>
            </a:pPr>
            <a:r>
              <a:rPr lang="ru-RU" sz="2600" dirty="0" err="1">
                <a:latin typeface="Montserrat" panose="00000500000000000000" pitchFamily="2" charset="-52"/>
              </a:rPr>
              <a:t>Выс</a:t>
            </a:r>
            <a:r>
              <a:rPr lang="ru-RU" sz="2600" dirty="0">
                <a:latin typeface="Montserrat" panose="00000500000000000000" pitchFamily="2" charset="-52"/>
              </a:rPr>
              <a:t>. Скорость зависящая от кол-ва узлов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Сложность моделирования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Неэффективность  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для определенных 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50390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2E4A4-6540-F2A0-DB7C-31D49607A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158CCF-1F96-F8D3-628D-BF61E8A74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86FC27C-D3AC-768C-AD23-D404ED61494B}"/>
              </a:ext>
            </a:extLst>
          </p:cNvPr>
          <p:cNvSpPr txBox="1">
            <a:spLocks/>
          </p:cNvSpPr>
          <p:nvPr/>
        </p:nvSpPr>
        <p:spPr>
          <a:xfrm>
            <a:off x="1642238" y="3284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Документноориентированная модель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B9223-7BEA-8A12-D745-4011DD4B450E}"/>
              </a:ext>
            </a:extLst>
          </p:cNvPr>
          <p:cNvSpPr txBox="1"/>
          <p:nvPr/>
        </p:nvSpPr>
        <p:spPr>
          <a:xfrm>
            <a:off x="186018" y="409857"/>
            <a:ext cx="118705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тип БД, направленный на хранение и запрос данных в виде документов.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</p:txBody>
      </p:sp>
      <p:pic>
        <p:nvPicPr>
          <p:cNvPr id="6146" name="Picture 2" descr="Пример хранения данных">
            <a:extLst>
              <a:ext uri="{FF2B5EF4-FFF2-40B4-BE49-F238E27FC236}">
                <a16:creationId xmlns:a16="http://schemas.microsoft.com/office/drawing/2014/main" id="{575D9D56-EAC9-BB20-FC2D-E82212895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736" y="952221"/>
            <a:ext cx="7430529" cy="437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ADEED-8D5F-D2AE-2DF9-7AB384B0F111}"/>
              </a:ext>
            </a:extLst>
          </p:cNvPr>
          <p:cNvSpPr txBox="1"/>
          <p:nvPr/>
        </p:nvSpPr>
        <p:spPr>
          <a:xfrm>
            <a:off x="186018" y="825355"/>
            <a:ext cx="437225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latin typeface="Montserrat" panose="00000500000000000000" pitchFamily="2" charset="-52"/>
              </a:rPr>
              <a:t>Плюсы: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Гибкая схема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Горизонтальная масштабируемость</a:t>
            </a:r>
          </a:p>
          <a:p>
            <a:pPr algn="just"/>
            <a:r>
              <a:rPr lang="ru-RU" sz="2600" dirty="0">
                <a:latin typeface="Montserrat" panose="00000500000000000000" pitchFamily="2" charset="-52"/>
              </a:rPr>
              <a:t>Минусы: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Избыточность данных</a:t>
            </a:r>
          </a:p>
          <a:p>
            <a:pPr marL="457200" indent="-457200" algn="just">
              <a:buFontTx/>
              <a:buChar char="-"/>
            </a:pPr>
            <a:r>
              <a:rPr lang="ru-RU" sz="2600" dirty="0">
                <a:latin typeface="Montserrat" panose="00000500000000000000" pitchFamily="2" charset="-52"/>
              </a:rPr>
              <a:t>Отсутствие стандартного языка 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649257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93141-45F0-504F-D627-EC29254D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2A4CED-4264-7EB0-8CA6-8470CB073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4BF7A05-EB65-8BF9-E46E-EA10DD310612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Архитектура СУБД</a:t>
            </a:r>
          </a:p>
        </p:txBody>
      </p:sp>
      <p:pic>
        <p:nvPicPr>
          <p:cNvPr id="7170" name="Picture 2" descr="Структура СУБД">
            <a:extLst>
              <a:ext uri="{FF2B5EF4-FFF2-40B4-BE49-F238E27FC236}">
                <a16:creationId xmlns:a16="http://schemas.microsoft.com/office/drawing/2014/main" id="{2128BAED-0D43-E426-A607-4086BD273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392" y="2977443"/>
            <a:ext cx="7239766" cy="384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83E182-6B9B-7BAA-DD4D-1F22EB5EB425}"/>
              </a:ext>
            </a:extLst>
          </p:cNvPr>
          <p:cNvSpPr txBox="1"/>
          <p:nvPr/>
        </p:nvSpPr>
        <p:spPr>
          <a:xfrm>
            <a:off x="186018" y="409857"/>
            <a:ext cx="118705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Архитектура СУБД — это совокупность основных функциональных компонентов СУБД, средств обеспечения их взаимодействия друг с другом пользователями и системным персоналом, которая описывается уровнями абстракции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Обеспечивается независимость от данных, изменения  на нижних уровнях не влияют на верхние уровни. Различают физическую и логическую независимость. </a:t>
            </a:r>
          </a:p>
        </p:txBody>
      </p:sp>
    </p:spTree>
    <p:extLst>
      <p:ext uri="{BB962C8B-B14F-4D97-AF65-F5344CB8AC3E}">
        <p14:creationId xmlns:p14="http://schemas.microsoft.com/office/powerpoint/2010/main" val="2480585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3787-60D2-BEE3-C555-F5E5F652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E0FBCC4-A935-573B-9EF0-CBF362723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8839D5E-9144-7CD4-63F7-118150437CF0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Архитектура СУБД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5D58D-E464-E78B-534B-8E71F1628D95}"/>
              </a:ext>
            </a:extLst>
          </p:cNvPr>
          <p:cNvSpPr txBox="1"/>
          <p:nvPr/>
        </p:nvSpPr>
        <p:spPr>
          <a:xfrm>
            <a:off x="186018" y="409857"/>
            <a:ext cx="1187051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Внешний уровень — это пользовательский уровень. Пользователем может быть программист, пользователь. Каждая группа пользователей выделяет в моделируемой предметной области сущности, атрибуты и связи, которые ей интересны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Концептуальный уровень является промежуточным уровнем в трехуровневой архитектуре и обеспечивает представление всей информации базы данных в абстрактной форме.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Внутренний уровень наиболее близок к физическому хранилищу информации, т.е. связан со способами сохранения информации на физических устройствах. </a:t>
            </a:r>
          </a:p>
        </p:txBody>
      </p:sp>
    </p:spTree>
    <p:extLst>
      <p:ext uri="{BB962C8B-B14F-4D97-AF65-F5344CB8AC3E}">
        <p14:creationId xmlns:p14="http://schemas.microsoft.com/office/powerpoint/2010/main" val="3125911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B32AE-8888-C977-46A1-0AF8776E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10BF38-8596-3710-FCCE-CF65060C2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221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DD5267E-EE7D-00C8-9473-F7EB36321C95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Архитектура СУБД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2AD97A-01A5-880E-6EE5-19485C04C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746" y="379413"/>
            <a:ext cx="7758070" cy="646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50B9-9459-2564-BB83-1978FF0E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4FFA15-6E93-ED99-B1C7-77AFD25CD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FF9F641-1434-1F1D-B9CD-ADB30809371F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Общее устройство СУБД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883673-DD78-2BA0-2134-35414F0A0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" y="2008223"/>
            <a:ext cx="6092757" cy="39296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1C476-055D-6FD7-A188-41909307239E}"/>
              </a:ext>
            </a:extLst>
          </p:cNvPr>
          <p:cNvSpPr txBox="1"/>
          <p:nvPr/>
        </p:nvSpPr>
        <p:spPr>
          <a:xfrm>
            <a:off x="186018" y="409857"/>
            <a:ext cx="11870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СУБД управляет и внешней памятью и ОЗУ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В ядре СУБД  обеспечивается работа с ПЗУ,ОЗУ, управлением транзакциями, содержится каталог с метаданными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2868CF-174F-D0DF-451F-45304DCCC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758" y="2761747"/>
            <a:ext cx="6095999" cy="24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78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F9DB-ABDC-C3E7-0F15-E08664FF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13CAE1-B35D-8EBF-AEE3-0F40FFEA3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166BFE9-C94E-5779-74DA-36591ABFC834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Физическая  организация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6A006-0CC6-B64C-01B6-33D45A842FE0}"/>
              </a:ext>
            </a:extLst>
          </p:cNvPr>
          <p:cNvSpPr txBox="1"/>
          <p:nvPr/>
        </p:nvSpPr>
        <p:spPr>
          <a:xfrm>
            <a:off x="186018" y="409857"/>
            <a:ext cx="11870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Поиск и предоставление данных пользователю осуществляются с помощью нескольких программ доступа данных и включают в себя три основных этапа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F5334-2B45-3229-5095-F8FE050AEE26}"/>
              </a:ext>
            </a:extLst>
          </p:cNvPr>
          <p:cNvSpPr txBox="1"/>
          <p:nvPr/>
        </p:nvSpPr>
        <p:spPr>
          <a:xfrm>
            <a:off x="135466" y="1532170"/>
            <a:ext cx="770841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dirty="0">
                <a:latin typeface="Montserrat" panose="00000500000000000000" pitchFamily="2" charset="-52"/>
              </a:rPr>
              <a:t>-</a:t>
            </a:r>
            <a:r>
              <a:rPr lang="ru-RU" sz="2300" dirty="0">
                <a:latin typeface="Montserrat" panose="00000500000000000000" pitchFamily="2" charset="-52"/>
              </a:rPr>
              <a:t>  Подсистема коммуникации принимает запрос</a:t>
            </a:r>
          </a:p>
          <a:p>
            <a:r>
              <a:rPr lang="ru-RU" sz="2300" dirty="0">
                <a:latin typeface="Montserrat" panose="00000500000000000000" pitchFamily="2" charset="-52"/>
              </a:rPr>
              <a:t>- В обработчике запросов проверяется синтаксис, выбирается лучший план выполнения</a:t>
            </a:r>
          </a:p>
          <a:p>
            <a:pPr marL="342900" indent="-342900">
              <a:buFontTx/>
              <a:buChar char="-"/>
            </a:pPr>
            <a:r>
              <a:rPr lang="ru-RU" sz="2300" dirty="0">
                <a:latin typeface="Montserrat" panose="00000500000000000000" pitchFamily="2" charset="-52"/>
              </a:rPr>
              <a:t>Проверяется на каком узле находятся данные</a:t>
            </a:r>
          </a:p>
          <a:p>
            <a:pPr marL="342900" indent="-342900">
              <a:buFontTx/>
              <a:buChar char="-"/>
            </a:pPr>
            <a:r>
              <a:rPr lang="ru-RU" sz="2300" dirty="0">
                <a:latin typeface="Montserrat" panose="00000500000000000000" pitchFamily="2" charset="-52"/>
              </a:rPr>
              <a:t>В подсистеме хранилища начинается транзакция, запрос в диспетчер файлов(определяется на какой странице запись), запрос в диспетчер дисков(определяется физическое положение страницы), в буфере проверяется есть ли страница, инф-я пишется в </a:t>
            </a:r>
            <a:r>
              <a:rPr lang="en-US" sz="2300" dirty="0">
                <a:latin typeface="Montserrat" panose="00000500000000000000" pitchFamily="2" charset="-52"/>
              </a:rPr>
              <a:t>WAL</a:t>
            </a:r>
            <a:endParaRPr lang="ru-RU" sz="2300" dirty="0">
              <a:latin typeface="Montserrat" panose="00000500000000000000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EFB1DF-3E61-80E9-FF22-F6F03BB6E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86" y="1134540"/>
            <a:ext cx="4162096" cy="571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3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C04B-BDF7-655E-A575-CF5AD521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751DDE-8EEA-54A4-95F8-B02608C42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89C8EBB-04AD-F2F6-A4FB-B215F53D9912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Физическая  организация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17B7D-8864-6607-278C-759290C45135}"/>
              </a:ext>
            </a:extLst>
          </p:cNvPr>
          <p:cNvSpPr txBox="1"/>
          <p:nvPr/>
        </p:nvSpPr>
        <p:spPr>
          <a:xfrm>
            <a:off x="84666" y="443724"/>
            <a:ext cx="120565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Данные хранятся страницами фиксированного размера - обычно 4–16 КБ.</a:t>
            </a:r>
            <a:endParaRPr lang="en-US" sz="2400" dirty="0">
              <a:latin typeface="Montserrat" panose="00000500000000000000" pitchFamily="2" charset="-52"/>
            </a:endParaRPr>
          </a:p>
          <a:p>
            <a:pPr algn="just"/>
            <a:r>
              <a:rPr lang="en-US" sz="2400" dirty="0">
                <a:latin typeface="Montserrat" panose="00000500000000000000" pitchFamily="2" charset="-52"/>
              </a:rPr>
              <a:t>C</a:t>
            </a:r>
            <a:r>
              <a:rPr lang="ru-RU" sz="2400" dirty="0">
                <a:latin typeface="Montserrat" panose="00000500000000000000" pitchFamily="2" charset="-52"/>
              </a:rPr>
              <a:t> точки зрения СУБД БД выглядит как набор записей, которые просматриваются с помощью диспетчера файлов. С точки зрения диспетчера файлов база данных выглядит как набор страниц, которые могут просматриваться с помощью диспетчера дисков.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5436CD-2B92-B8CB-3D31-A0CC8505A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64" t="29129" r="20268" b="28909"/>
          <a:stretch>
            <a:fillRect/>
          </a:stretch>
        </p:blipFill>
        <p:spPr>
          <a:xfrm>
            <a:off x="8291821" y="2814620"/>
            <a:ext cx="3646178" cy="3295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A5DCCF-D709-A558-EF85-FCDA4C471550}"/>
              </a:ext>
            </a:extLst>
          </p:cNvPr>
          <p:cNvSpPr txBox="1"/>
          <p:nvPr/>
        </p:nvSpPr>
        <p:spPr>
          <a:xfrm>
            <a:off x="84666" y="2378100"/>
            <a:ext cx="81563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Заголовок страницы содержит информацию о физическом дисковом адресе страницы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В содержании страниц, кроме самих данных, есть число длины записи 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Слоты задают размещение строки на страни­це и длину строки 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Также выделяют свободное место для записи новых данных </a:t>
            </a:r>
          </a:p>
        </p:txBody>
      </p:sp>
    </p:spTree>
    <p:extLst>
      <p:ext uri="{BB962C8B-B14F-4D97-AF65-F5344CB8AC3E}">
        <p14:creationId xmlns:p14="http://schemas.microsoft.com/office/powerpoint/2010/main" val="2467436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C59B-9EEF-249E-AF1A-F47C10A3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224EE3-A73B-DCC4-54FB-585B3B1E5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AE5D175-18AC-21E7-D8D6-7E7D292A8C48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Уровень  ОЗУ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7BA52-07BA-6952-A550-3299D4E6A415}"/>
              </a:ext>
            </a:extLst>
          </p:cNvPr>
          <p:cNvSpPr txBox="1"/>
          <p:nvPr/>
        </p:nvSpPr>
        <p:spPr>
          <a:xfrm>
            <a:off x="186018" y="409857"/>
            <a:ext cx="118705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Работа с ОЗУ делится на несколько типов: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По порядку вытеснения: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Вытеснение давно неиспользуемых записей кэша - время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Вытеснение редко используемых записей кэша – частота использования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Вытеснение редко используемых записей кэша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latin typeface="Montserrat" panose="00000500000000000000" pitchFamily="2" charset="-52"/>
              </a:rPr>
              <a:t>FIFO </a:t>
            </a:r>
            <a:r>
              <a:rPr lang="ru-RU" sz="2400" dirty="0">
                <a:latin typeface="Montserrat" panose="00000500000000000000" pitchFamily="2" charset="-52"/>
              </a:rPr>
              <a:t> 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2. По порядку взаимодействия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Кэширование на стороне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Сквозная запись</a:t>
            </a:r>
          </a:p>
        </p:txBody>
      </p:sp>
    </p:spTree>
    <p:extLst>
      <p:ext uri="{BB962C8B-B14F-4D97-AF65-F5344CB8AC3E}">
        <p14:creationId xmlns:p14="http://schemas.microsoft.com/office/powerpoint/2010/main" val="375656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B06F-282F-9727-6C9F-F071B052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66C551-4FC5-7220-9B91-765744BF1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175F26A-E4A2-00F0-8627-06E3BEBDC1E9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Журнал упреждающей записи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7EB43-10FC-D825-4D54-E4B14D089C35}"/>
              </a:ext>
            </a:extLst>
          </p:cNvPr>
          <p:cNvSpPr txBox="1"/>
          <p:nvPr/>
        </p:nvSpPr>
        <p:spPr>
          <a:xfrm>
            <a:off x="186018" y="409857"/>
            <a:ext cx="118705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Это вспомогательная дисковая структура с доступом только для добавления, которая используется для восстановления после сбоев и восстановления транзакций. До тех пор пока кэшированное содержимое не будет выгружено обратно на диск, единственная копия, сохраняющая историю операций на диске, располагается в журнале упреждающей записи. </a:t>
            </a:r>
            <a:endParaRPr lang="en-US" sz="2400" dirty="0">
              <a:latin typeface="Montserrat" panose="00000500000000000000" pitchFamily="2" charset="-52"/>
            </a:endParaRPr>
          </a:p>
          <a:p>
            <a:pPr algn="just"/>
            <a:endParaRPr lang="en-US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Контрольные точки - это момент времени, когда система базы данных гарантирует, что все изменения данных, записанные в WAL, были физически перенесены с оперативной памяти на постоянный диск</a:t>
            </a:r>
          </a:p>
        </p:txBody>
      </p:sp>
    </p:spTree>
    <p:extLst>
      <p:ext uri="{BB962C8B-B14F-4D97-AF65-F5344CB8AC3E}">
        <p14:creationId xmlns:p14="http://schemas.microsoft.com/office/powerpoint/2010/main" val="3854825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B027-8EDF-D9DB-FC6C-784039D8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11D9EA-E2C3-5545-2CF2-A25B7B170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8DE861E-60AD-E345-7393-CAB8A9F92024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Индексы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FBD52-C65D-9B56-EC37-227CBC9C3566}"/>
              </a:ext>
            </a:extLst>
          </p:cNvPr>
          <p:cNvSpPr txBox="1"/>
          <p:nvPr/>
        </p:nvSpPr>
        <p:spPr>
          <a:xfrm>
            <a:off x="186018" y="409857"/>
            <a:ext cx="118705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Montserrat" panose="00000500000000000000" pitchFamily="2" charset="-52"/>
              </a:rPr>
              <a:t>Индекс — объект БД, создаваемый с целью повышения производительности поиска данных. Индекс формируется из значений одного или нескольких столбцов таблицы.</a:t>
            </a:r>
          </a:p>
          <a:p>
            <a:pPr marL="342900" indent="-342900" algn="just">
              <a:buFontTx/>
              <a:buChar char="-"/>
            </a:pPr>
            <a:endParaRPr lang="ru-RU" sz="32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81522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B6611-45AE-1100-DF4A-E6A1382B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75C5FC-E6D7-7B9B-6472-33EFF080B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15ED4E5-A85B-8E94-8303-59A7E15B171D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Параллелизм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0328B-0A83-8463-2A66-36C3D365B079}"/>
              </a:ext>
            </a:extLst>
          </p:cNvPr>
          <p:cNvSpPr txBox="1"/>
          <p:nvPr/>
        </p:nvSpPr>
        <p:spPr>
          <a:xfrm>
            <a:off x="186018" y="409857"/>
            <a:ext cx="118705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Управление через следующие методы:</a:t>
            </a:r>
          </a:p>
          <a:p>
            <a:pPr marL="457200" indent="-4572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Оптимистичное  управление параллелизмом</a:t>
            </a:r>
            <a:r>
              <a:rPr lang="en-US" sz="2400" dirty="0">
                <a:latin typeface="Montserrat" panose="00000500000000000000" pitchFamily="2" charset="-52"/>
              </a:rPr>
              <a:t>(OCC</a:t>
            </a:r>
            <a:r>
              <a:rPr lang="ru-RU" sz="2400" dirty="0">
                <a:latin typeface="Montserrat" panose="00000500000000000000" pitchFamily="2" charset="-52"/>
              </a:rPr>
              <a:t>)</a:t>
            </a:r>
          </a:p>
          <a:p>
            <a:pPr marL="457200" indent="-457200" algn="just">
              <a:buAutoNum type="arabicParenR"/>
            </a:pPr>
            <a:r>
              <a:rPr lang="ru-RU" sz="2400" dirty="0">
                <a:latin typeface="Montserrat" panose="00000500000000000000" pitchFamily="2" charset="-52"/>
              </a:rPr>
              <a:t>Этап чтения</a:t>
            </a:r>
          </a:p>
          <a:p>
            <a:pPr marL="457200" indent="-457200" algn="just">
              <a:buAutoNum type="arabicParenR"/>
            </a:pPr>
            <a:r>
              <a:rPr lang="ru-RU" sz="2400" dirty="0">
                <a:latin typeface="Montserrat" panose="00000500000000000000" pitchFamily="2" charset="-52"/>
              </a:rPr>
              <a:t>Этап проверки(проверка </a:t>
            </a:r>
            <a:r>
              <a:rPr lang="en-US" sz="2400" dirty="0">
                <a:latin typeface="Montserrat" panose="00000500000000000000" pitchFamily="2" charset="-52"/>
              </a:rPr>
              <a:t>ACID</a:t>
            </a:r>
            <a:r>
              <a:rPr lang="ru-RU" sz="2400" dirty="0">
                <a:latin typeface="Montserrat" panose="00000500000000000000" pitchFamily="2" charset="-52"/>
              </a:rPr>
              <a:t>)</a:t>
            </a:r>
            <a:endParaRPr lang="en-US" sz="2400" dirty="0">
              <a:latin typeface="Montserrat" panose="00000500000000000000" pitchFamily="2" charset="-52"/>
            </a:endParaRPr>
          </a:p>
          <a:p>
            <a:pPr marL="457200" indent="-457200" algn="just">
              <a:buAutoNum type="arabicParenR"/>
            </a:pPr>
            <a:r>
              <a:rPr lang="ru-RU" sz="2400" dirty="0">
                <a:latin typeface="Montserrat" panose="00000500000000000000" pitchFamily="2" charset="-52"/>
              </a:rPr>
              <a:t>Этап  записи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Многоверсионное управление конкурентным доступом</a:t>
            </a:r>
          </a:p>
        </p:txBody>
      </p:sp>
    </p:spTree>
    <p:extLst>
      <p:ext uri="{BB962C8B-B14F-4D97-AF65-F5344CB8AC3E}">
        <p14:creationId xmlns:p14="http://schemas.microsoft.com/office/powerpoint/2010/main" val="191066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8DC7-A522-A8FA-87FC-CBAF4F4D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78593CE-D1EF-1778-E10C-6ADEBA6A6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21AD9C4-B2B3-6356-AED1-297B6A0403F3}"/>
              </a:ext>
            </a:extLst>
          </p:cNvPr>
          <p:cNvSpPr txBox="1">
            <a:spLocks/>
          </p:cNvSpPr>
          <p:nvPr/>
        </p:nvSpPr>
        <p:spPr>
          <a:xfrm>
            <a:off x="1642238" y="11820"/>
            <a:ext cx="890751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Параллелизм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D27448-AE21-AA86-214C-04E7F5F42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" y="1663126"/>
            <a:ext cx="12051630" cy="353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20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5410</TotalTime>
  <Words>1172</Words>
  <Application>Microsoft Office PowerPoint</Application>
  <PresentationFormat>Широкоэкранный</PresentationFormat>
  <Paragraphs>183</Paragraphs>
  <Slides>27</Slides>
  <Notes>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Поляков</dc:creator>
  <cp:lastModifiedBy>Даниил Поляков</cp:lastModifiedBy>
  <cp:revision>75</cp:revision>
  <dcterms:created xsi:type="dcterms:W3CDTF">2026-02-19T18:52:05Z</dcterms:created>
  <dcterms:modified xsi:type="dcterms:W3CDTF">2026-04-03T13:00:23Z</dcterms:modified>
</cp:coreProperties>
</file>