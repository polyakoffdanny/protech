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16" r:id="rId2"/>
    <p:sldId id="326" r:id="rId3"/>
    <p:sldId id="327" r:id="rId4"/>
    <p:sldId id="328" r:id="rId5"/>
    <p:sldId id="329" r:id="rId6"/>
    <p:sldId id="330" r:id="rId7"/>
    <p:sldId id="317" r:id="rId8"/>
    <p:sldId id="323" r:id="rId9"/>
    <p:sldId id="324" r:id="rId10"/>
    <p:sldId id="325" r:id="rId11"/>
    <p:sldId id="332" r:id="rId12"/>
    <p:sldId id="333" r:id="rId13"/>
    <p:sldId id="334" r:id="rId14"/>
    <p:sldId id="335" r:id="rId15"/>
    <p:sldId id="331" r:id="rId16"/>
    <p:sldId id="336" r:id="rId17"/>
    <p:sldId id="337" r:id="rId18"/>
    <p:sldId id="338" r:id="rId19"/>
    <p:sldId id="349" r:id="rId20"/>
    <p:sldId id="339" r:id="rId21"/>
    <p:sldId id="340" r:id="rId22"/>
    <p:sldId id="341" r:id="rId23"/>
    <p:sldId id="342" r:id="rId24"/>
    <p:sldId id="343" r:id="rId25"/>
    <p:sldId id="344" r:id="rId26"/>
    <p:sldId id="348" r:id="rId27"/>
    <p:sldId id="350" r:id="rId28"/>
    <p:sldId id="351" r:id="rId29"/>
    <p:sldId id="352" r:id="rId30"/>
    <p:sldId id="353" r:id="rId31"/>
    <p:sldId id="346" r:id="rId32"/>
    <p:sldId id="347" r:id="rId33"/>
    <p:sldId id="354" r:id="rId34"/>
    <p:sldId id="355" r:id="rId35"/>
    <p:sldId id="356" r:id="rId36"/>
    <p:sldId id="357" r:id="rId37"/>
    <p:sldId id="358" r:id="rId3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4" autoAdjust="0"/>
    <p:restoredTop sz="94660"/>
  </p:normalViewPr>
  <p:slideViewPr>
    <p:cSldViewPr snapToGrid="0">
      <p:cViewPr varScale="1">
        <p:scale>
          <a:sx n="87" d="100"/>
          <a:sy n="87" d="100"/>
        </p:scale>
        <p:origin x="53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CD749-9130-4352-83DC-873A75D1D116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5B8BC-C241-4CAE-B1BE-996C0BB668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734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0516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53A1F-8EFF-AEA0-3C8F-BFD058C7E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79C24DD-59A7-F985-56CA-2332729CF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414EAF5-101B-9845-C59F-E26E3B3B3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654A92E-EC2B-D33B-7416-A2EDCA7D6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9577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7996F-91F8-30C0-29D0-AEE8D631E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FE3CF19-AB22-6BD4-52BB-959FA786B9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4D67387-2EE2-FB7D-7728-44EB4B7C0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369F25-D401-502F-CC41-7499EEA855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057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07630-CC15-3591-B082-1B50EFE7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B97A1C71-6381-CF1D-3A4F-0BE446AAD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3C8C639-ECC6-C92E-F7B0-7ACB6A2507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948890-BC8A-09C5-ED1C-152CC4766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9931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61B97-79DB-B304-CAA7-1E725C815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9C8597-FA9F-B346-3E51-9B80CA6A4E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2749BC6-5C7B-74FD-7E0C-E70CB56384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16B2471-EA34-DBA4-7AA8-42B9DED8F5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43282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78EAA-A3B6-8049-9A58-A3CBC7DE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02727DD-AE44-1ABA-8F57-5327EEE7D6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299CA9E-4AC2-E80C-EC02-E78821172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2A477E-96B8-593C-F1D2-28DF6B4B8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55507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5752C-2A59-990C-3FE6-0B0ABC1F3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60FE3CA-BF1D-059A-7444-F48B6610C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063A4C9-0876-DA03-557D-87D749AC4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3F497F-B801-2415-636D-0762E4B17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53507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8D14F-FD59-207C-42A8-68299518F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65A5670-B8F4-50B1-21BB-4FF82E6EB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4AD6841-262B-E76C-F107-1BB75CAD8F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6CD719-8303-4627-9BDE-8FE29F3798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68199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4B2B9-4082-3429-086A-BA1A555C0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1B33264-B76C-AB96-8582-36E8FF9B5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FEFEB43-7318-0E4B-1252-747F1B334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E8CE11F-0C3D-1471-B9E9-31E29561E2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2877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15235-DF7B-88AA-D163-3C1BFEE0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B013730-ED2D-41D5-1DFD-6237975F5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760076B-821E-ABE7-578A-207369F15D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0B7D75-0BA8-3FCC-D4E1-0513F8F7C2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46473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864B7-18ED-F740-F9A2-0393F9C61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70B5AD-52BA-41FB-776E-DE2AB30EA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579A32D-8BB3-7E95-C327-BEC72229B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10EB7-D30D-30A3-B618-12CBD65DC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240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31128-9E08-A11F-BB61-2CF98DF0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4A3A48A-6743-45FE-B57F-FBB62F453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F78F797-7861-3840-462E-7412D3619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E63738A-D4BF-0A7E-AAB5-A2BDC8D9C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615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FB3AC-CDC6-0F31-05CB-E395E8B0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F730595-E90E-0040-B591-7D02E4EE2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5A4A6F9-9B5A-502B-ED76-6C5566D0B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8183CF7-6814-DC8D-43F4-49966CF3B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134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E64F7-97DE-6925-1C55-D010AD463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1B09AD5-A4B0-E98A-BF11-9FE1EFD27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B530FD3-EE81-A0D7-F1DF-CDA7C98F44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FAE344B-EF11-BE82-A477-57DED8B4E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93612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D62F6-1EB8-B031-3015-AC91CB03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519668A-C424-80F2-79A6-B9D9F505E0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1DB2D87-83B4-C3AC-3659-9166BB54F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CCD30C6-8BB8-52DF-4659-CBED975AE1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69060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620C5-CB4B-656A-16D0-D2264069F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FE938AE-6BC2-77B0-C346-F2976DA9C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A1048C-FF19-91B2-493B-3F4D6F13D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D7376F-0610-F62B-037A-E5C89E5FE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08784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428AA-F6B4-01D8-AC3A-12B22658A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D5771DE-3380-4DFD-333D-02C67912D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9DE3F2C-FFD0-1302-022B-F6D79956F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FA3B46-655B-349C-1255-9E3A864A2E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4503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82FAD-EE8E-1DE5-5640-9977144BC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45CFDA5-491E-E614-9D3D-CB7C699C38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9FB9B52-7840-8805-918E-4BB0E2C45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C0B92EE-33CA-E3A9-63AE-788EF31A6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4472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687EC-A0D8-159A-B4B5-227D9E9B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70FC3A-635C-2313-22AC-67F963C17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7778ED-5425-6AF6-31AF-4FCC7839B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1DC9BC-442E-4607-D495-4092AC99D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1206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13F8-484F-C243-5893-F2DF9C23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DF21436-4B14-7099-7584-E61BE5AD2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087A590-21AE-2529-E017-FFD5348E2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0CA143-55BD-EB6C-95F0-350ADF60C0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60548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EBCA8-F327-B1CC-F21D-00908594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E4C460E-5141-38AF-A595-86885AECDE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AC8E48E-38B7-459B-557D-77A5C8461D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B062615-F69A-1935-4D3A-A27703AC8F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1767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24841-869D-7F6F-7639-3B46582A2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FC26FD9-8BFC-1C30-EA4B-A02E15572B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BDF22CF-084B-7DF1-6106-326EB9EF0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12F8BE-A860-CEA6-867C-74B3798F1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3182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980F0-8A82-8F9A-C2D0-ED02B3116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B7598F3-1836-DD4A-C16B-2E61861A5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ACE4717-A79E-7B73-D4EC-0CFEF3CC9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F8EDE2-85AA-C88C-919B-B87BA6377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477847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30D8D-362F-C135-B513-E0F3509A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789D3A4-D8E8-BDF4-9E50-A25511BF1B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4E5BA53-C312-8550-363E-7F8A11F28B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7C74AE8-80DB-D0E2-706D-31AC7FDA00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82739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76CA5-22E0-141B-0B53-D0341207C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2FBF37-2ED6-2F9E-B1AE-684EA36BA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535734C-990E-0AA1-E333-08D4F0EF1C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1F8149-4066-E4E5-651A-08B6DA8AE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82251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98D86-19F1-CE75-C23E-6A5767D94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687CC01-AD53-CB1E-14E7-1E5B80A8B2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514B57B-8F33-6904-6FDF-EEBA17205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16B1E4-5515-1B03-3EED-20959737A4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17569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C74FF-AEEE-A7E0-CF56-1ACE68C93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7A80BDD-6F68-20F9-FD63-0D972EDE29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E469BA7-10B2-7B26-CA0B-33CAEBBF2C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465F151-DFAA-822D-F500-4C4800656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1674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4DF62-964C-3921-F8F4-AAA65F4F4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6523EFC-DA25-8FCD-14B3-1D99588E0A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7D17D84-06A0-B7B7-4CC6-8271921BA1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2975A36-B01F-3CA5-D5E1-BCDB289FB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C5B8BC-C241-4CAE-B1BE-996C0BB668B5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3822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A6BCC-70DE-4C85-8D34-4D233AF6F7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266D39-280C-9B63-403C-D49AB267E0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74C8DB-5D47-B62E-9EFC-689F82295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B7E0377-63D3-0092-4F0D-56B558191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F5881C-CE8A-0868-A5B0-6A870E296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7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B75B9-4FD2-A6B5-74DD-6E7DA99D3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65AB93-6D29-0F3B-1377-9FCBE4735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A50A5F-50C2-7465-85C7-F521B2F4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1A1A3E-147A-F3EE-5560-C4024FFC3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6D70500-88C5-275F-F4C1-8B874FB59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397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36445-B7F4-AE99-8510-F19D8F0AD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B8BBC71-4EA0-BA0D-CC61-5A913F3BB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B9C41A-F89B-95E9-8D21-742A2818A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80C8A8-1AEF-C861-45FE-5E33DAAC7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386C6B-B0E0-6A36-3BD2-061E047D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638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23CE5C-E42E-7472-919D-DF1B4974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E41158-C12A-F818-AB88-D3955D37A6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DC8D0CE-0B1A-D1E3-4A18-4234F5FAE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B62E00-7CA6-9347-55FF-0F0699F46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191B812-B2DE-E9AE-870D-3C5F308BD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48A6EB-01EC-BAC0-9B8A-3B4032CE1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570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1FB0C-0533-3027-80EF-84073D426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A88B47-0781-8A22-3AB0-FB44E3011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649342E-A5F3-CEF1-9DEE-42566B6D1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D84CE6-1386-A493-D3D2-2E8FAB1674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A214223-59F7-B717-1125-15BB19650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9A838C-5246-FEC5-DD7E-1B5A610A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3DBFD9B-5D3B-8281-A341-871F44C4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AD8AD54-F792-FC9E-D4B1-DEF25E7D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296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03AB0-CB77-8443-D553-1F173E645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98922BE-595B-EEC0-926F-D9E09266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B83919C-8B9B-D20A-EBC7-4CC4376F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1700C57-9EC4-8FCF-39B1-821CDB53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6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404C8D2-D2F8-F220-1A7E-26382005D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6B36E97-4CED-D433-8557-D6A4606AE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344F57-F3D6-32EF-CD94-BB42E5DB7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567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1D367B-0DD0-6570-6737-DCFEE66BE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F14745-FF18-EC56-94A8-BB89CE96F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C896AB6-EF09-6795-D868-E112C99F9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8DEA1D0-E280-BBA6-9937-D97EE2269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AFA1715-F23C-5261-27B6-CA25EE9F2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5C86A9C-DBF0-43BE-4129-44FA86950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692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942A45-C907-A368-CE52-FD04EB31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D893737-E40C-607F-5E4A-437C169EA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B5A6C35-814F-E742-F40E-AA9A7F3F9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9A800D-5876-3460-1840-65CC16B35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93D7EB-884E-2F5F-948D-E65DE8DAA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CE0A1AD-7736-3165-9568-CD0E63FF4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508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570308-8295-5FE5-181A-9DD6D82D1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A7A989-7B0E-D289-E47D-BE0376B215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A81DA3-4E3C-5F74-9C26-AA4E8719F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4DAB12-267A-BB60-C3CE-06E2A40CD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6AC0DCA-B05A-38AE-C459-B94F60CF7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0942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07FEA1-4A13-B5A6-8CCA-7596BAD5E1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CD7A2D7-6665-36A3-D7A9-E87B0F6DF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3C982-DEBB-EA9C-0646-5E8938600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4F5E92-95D4-8B15-3E52-A066E066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36ED87-66D5-1FE9-20D0-7F5F91CA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36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D84CCA-5158-0C10-DF86-7550DD18E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74E3C6-3E6F-24F8-5089-F560ED5CF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2ACB06-EC86-609E-A76F-DA06221D0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26FA99-F6EA-4035-BBEA-516FB4ECC9CE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A09D82-0B6D-CECE-280F-1F04A0D7C4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8249FD-111C-0150-2F65-023B0F0F59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F72F1-DF80-466B-B83F-E1C9BF64D77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0113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A6FC8EA-3753-04AC-4030-F53B618A6B67}"/>
              </a:ext>
            </a:extLst>
          </p:cNvPr>
          <p:cNvSpPr txBox="1">
            <a:spLocks/>
          </p:cNvSpPr>
          <p:nvPr/>
        </p:nvSpPr>
        <p:spPr>
          <a:xfrm>
            <a:off x="2944904" y="2729754"/>
            <a:ext cx="6302189" cy="699246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dirty="0">
                <a:latin typeface="Montserrat" panose="00000500000000000000" pitchFamily="2" charset="-52"/>
              </a:rPr>
              <a:t>СХД, Серверы, </a:t>
            </a:r>
            <a:r>
              <a:rPr lang="en-US" dirty="0">
                <a:latin typeface="Montserrat" panose="00000500000000000000" pitchFamily="2" charset="-52"/>
              </a:rPr>
              <a:t>RAIDIX</a:t>
            </a:r>
            <a:endParaRPr lang="ru-RU" dirty="0">
              <a:latin typeface="Montserrat" panose="00000500000000000000" pitchFamily="2" charset="-52"/>
            </a:endParaRP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3D5BEAFD-48D6-FC77-E42A-58846C6EC14E}"/>
              </a:ext>
            </a:extLst>
          </p:cNvPr>
          <p:cNvSpPr txBox="1">
            <a:spLocks/>
          </p:cNvSpPr>
          <p:nvPr/>
        </p:nvSpPr>
        <p:spPr>
          <a:xfrm>
            <a:off x="3631122" y="3449732"/>
            <a:ext cx="4929752" cy="425543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>
                <a:latin typeface="Montserrat" panose="00000500000000000000" pitchFamily="2" charset="-52"/>
              </a:rPr>
              <a:t>Стажировка «</a:t>
            </a:r>
            <a:r>
              <a:rPr lang="en-US" dirty="0">
                <a:latin typeface="Montserrat" panose="00000500000000000000" pitchFamily="2" charset="-52"/>
              </a:rPr>
              <a:t>C</a:t>
            </a:r>
            <a:r>
              <a:rPr lang="ru-RU" dirty="0">
                <a:latin typeface="Montserrat" panose="00000500000000000000" pitchFamily="2" charset="-52"/>
              </a:rPr>
              <a:t>ХД и СРК»</a:t>
            </a:r>
          </a:p>
          <a:p>
            <a:pPr algn="ctr"/>
            <a:endParaRPr lang="ru-RU" b="1" dirty="0">
              <a:latin typeface="Montserrat" panose="00000500000000000000" pitchFamily="2" charset="-52"/>
            </a:endParaRP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DA38C6EC-F347-4D08-21A5-6287766F16C7}"/>
              </a:ext>
            </a:extLst>
          </p:cNvPr>
          <p:cNvSpPr txBox="1">
            <a:spLocks/>
          </p:cNvSpPr>
          <p:nvPr/>
        </p:nvSpPr>
        <p:spPr>
          <a:xfrm>
            <a:off x="9126070" y="4930728"/>
            <a:ext cx="2965635" cy="42554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sz="2400" dirty="0">
                <a:latin typeface="Montserrat" panose="00000500000000000000" pitchFamily="2" charset="-52"/>
              </a:rPr>
              <a:t>Поляков Даниил</a:t>
            </a:r>
          </a:p>
        </p:txBody>
      </p:sp>
    </p:spTree>
    <p:extLst>
      <p:ext uri="{BB962C8B-B14F-4D97-AF65-F5344CB8AC3E}">
        <p14:creationId xmlns:p14="http://schemas.microsoft.com/office/powerpoint/2010/main" val="4210569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F9E11-2B50-4F83-DB72-DC92E265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35962B5-7275-D613-9C4D-82AA82AE6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8E5ED46-F0B3-9635-37C7-FF2CAB32EB7A}"/>
              </a:ext>
            </a:extLst>
          </p:cNvPr>
          <p:cNvSpPr txBox="1">
            <a:spLocks/>
          </p:cNvSpPr>
          <p:nvPr/>
        </p:nvSpPr>
        <p:spPr>
          <a:xfrm>
            <a:off x="2817153" y="13448"/>
            <a:ext cx="655768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</a:t>
            </a:r>
            <a:r>
              <a:rPr lang="en-US" sz="3600" dirty="0">
                <a:latin typeface="Montserrat" panose="00000500000000000000" pitchFamily="2" charset="-52"/>
              </a:rPr>
              <a:t>0</a:t>
            </a:r>
            <a:r>
              <a:rPr lang="ru-RU" sz="3600" dirty="0">
                <a:latin typeface="Montserrat" panose="00000500000000000000" pitchFamily="2" charset="-52"/>
              </a:rPr>
              <a:t>. Ответы на вопросы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EC0BD-2B88-C3C6-583F-89BDD0AB161B}"/>
              </a:ext>
            </a:extLst>
          </p:cNvPr>
          <p:cNvSpPr txBox="1"/>
          <p:nvPr/>
        </p:nvSpPr>
        <p:spPr>
          <a:xfrm>
            <a:off x="228601" y="609600"/>
            <a:ext cx="752138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Как подключаются блейд-сервера: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Подключается все через </a:t>
            </a:r>
            <a:r>
              <a:rPr lang="ru-RU" sz="2400" dirty="0" err="1">
                <a:latin typeface="Montserrat" panose="00000500000000000000" pitchFamily="2" charset="-52"/>
              </a:rPr>
              <a:t>мидплейн</a:t>
            </a:r>
            <a:r>
              <a:rPr lang="ru-RU" sz="2400" dirty="0">
                <a:latin typeface="Montserrat" panose="00000500000000000000" pitchFamily="2" charset="-52"/>
              </a:rPr>
              <a:t>, обычно выделяются Зона 1(Питание), Зона 2(Разъем для передачи данных), Зона 3(Разъем для подключения специализированного оборудования) 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2. Какая вода используется в системах водяного охлаждения: 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Деминерализованная вода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Водно-гликолевые смеси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Диэлектрические жидкости(одно- и двухфазные) – сервера здесь погружены прям в жидкость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E56FCF6-0AA8-696E-A6B9-52EED2C45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684" y="555812"/>
            <a:ext cx="4138612" cy="2924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496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48130-D12D-0B01-F631-8D9E1C481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8995631-C111-478A-2754-986F220C2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0045332-6F25-6659-556B-24D973465E79}"/>
              </a:ext>
            </a:extLst>
          </p:cNvPr>
          <p:cNvSpPr txBox="1">
            <a:spLocks/>
          </p:cNvSpPr>
          <p:nvPr/>
        </p:nvSpPr>
        <p:spPr>
          <a:xfrm>
            <a:off x="2817153" y="13448"/>
            <a:ext cx="655768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</a:t>
            </a:r>
            <a:r>
              <a:rPr lang="en-US" sz="3600" dirty="0">
                <a:latin typeface="Montserrat" panose="00000500000000000000" pitchFamily="2" charset="-52"/>
              </a:rPr>
              <a:t>0</a:t>
            </a:r>
            <a:r>
              <a:rPr lang="ru-RU" sz="3600" dirty="0">
                <a:latin typeface="Montserrat" panose="00000500000000000000" pitchFamily="2" charset="-52"/>
              </a:rPr>
              <a:t>. Ответы на вопросы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1EFBC-63B5-30EE-F078-3F3D32F20F26}"/>
              </a:ext>
            </a:extLst>
          </p:cNvPr>
          <p:cNvSpPr txBox="1"/>
          <p:nvPr/>
        </p:nvSpPr>
        <p:spPr>
          <a:xfrm>
            <a:off x="228600" y="609600"/>
            <a:ext cx="1173928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3. Что внутри серверов с пассивным охлаждением: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Корпус=радиатор, корпус состоит из алюминия</a:t>
            </a:r>
            <a:r>
              <a:rPr lang="en-US" sz="2400" dirty="0">
                <a:latin typeface="Montserrat" panose="00000500000000000000" pitchFamily="2" charset="-52"/>
              </a:rPr>
              <a:t>/</a:t>
            </a:r>
            <a:r>
              <a:rPr lang="ru-RU" sz="2400" dirty="0">
                <a:latin typeface="Montserrat" panose="00000500000000000000" pitchFamily="2" charset="-52"/>
              </a:rPr>
              <a:t>меди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latin typeface="Montserrat" panose="00000500000000000000" pitchFamily="2" charset="-52"/>
              </a:rPr>
              <a:t>CPU, DRAM, </a:t>
            </a:r>
            <a:r>
              <a:rPr lang="ru-RU" sz="2400" dirty="0">
                <a:latin typeface="Montserrat" panose="00000500000000000000" pitchFamily="2" charset="-52"/>
              </a:rPr>
              <a:t>накопители </a:t>
            </a:r>
            <a:r>
              <a:rPr lang="ru-RU" sz="2400" dirty="0" err="1">
                <a:latin typeface="Montserrat" panose="00000500000000000000" pitchFamily="2" charset="-52"/>
              </a:rPr>
              <a:t>низкопотребляющие</a:t>
            </a:r>
            <a:endParaRPr lang="en-US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Контурные тепловые трубки </a:t>
            </a:r>
            <a:r>
              <a:rPr lang="ru-RU" sz="2400" dirty="0" err="1">
                <a:latin typeface="Montserrat" panose="00000500000000000000" pitchFamily="2" charset="-52"/>
              </a:rPr>
              <a:t>Теркон</a:t>
            </a:r>
            <a:r>
              <a:rPr lang="ru-RU" sz="2400" dirty="0">
                <a:latin typeface="Montserrat" panose="00000500000000000000" pitchFamily="2" charset="-52"/>
              </a:rPr>
              <a:t>(испаритель и паропровод)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A2C29FD-8006-44A9-EFBA-51450BAA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82" y="4186519"/>
            <a:ext cx="4723442" cy="241682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C19D0EC-9AE0-E3DC-1A12-0F8916A88F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760" y="2876662"/>
            <a:ext cx="4894729" cy="326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26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BAF5D-CD98-A2E0-CF4C-62EB3FA4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68D942F-C4EA-817F-25F5-0521477EC1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7E3D2EB-BADD-4615-561B-EBD04B769465}"/>
              </a:ext>
            </a:extLst>
          </p:cNvPr>
          <p:cNvSpPr txBox="1">
            <a:spLocks/>
          </p:cNvSpPr>
          <p:nvPr/>
        </p:nvSpPr>
        <p:spPr>
          <a:xfrm>
            <a:off x="2817153" y="13448"/>
            <a:ext cx="655768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</a:t>
            </a:r>
            <a:r>
              <a:rPr lang="en-US" sz="3600" dirty="0">
                <a:latin typeface="Montserrat" panose="00000500000000000000" pitchFamily="2" charset="-52"/>
              </a:rPr>
              <a:t>0</a:t>
            </a:r>
            <a:r>
              <a:rPr lang="ru-RU" sz="3600" dirty="0">
                <a:latin typeface="Montserrat" panose="00000500000000000000" pitchFamily="2" charset="-52"/>
              </a:rPr>
              <a:t>. Ответы на вопросы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D5B9F5-F763-9023-DCF0-BB6F78CF5BAB}"/>
              </a:ext>
            </a:extLst>
          </p:cNvPr>
          <p:cNvSpPr txBox="1"/>
          <p:nvPr/>
        </p:nvSpPr>
        <p:spPr>
          <a:xfrm>
            <a:off x="228600" y="609600"/>
            <a:ext cx="1173928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4. </a:t>
            </a:r>
            <a:r>
              <a:rPr lang="en-US" sz="2400" dirty="0">
                <a:latin typeface="Montserrat" panose="00000500000000000000" pitchFamily="2" charset="-52"/>
              </a:rPr>
              <a:t>TDP </a:t>
            </a:r>
            <a:r>
              <a:rPr lang="ru-RU" sz="2400" dirty="0">
                <a:latin typeface="Montserrat" panose="00000500000000000000" pitchFamily="2" charset="-52"/>
              </a:rPr>
              <a:t>и энергопотребление: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CCA5650-8AED-5930-E56F-DDE790ABD8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6" y="1375937"/>
            <a:ext cx="4446494" cy="408248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25C8ACF-1407-0693-A73C-9D482D864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576" y="1375937"/>
            <a:ext cx="4620805" cy="4106125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59B2AC7-5E8B-6262-EAB2-DD72B1B04E47}"/>
              </a:ext>
            </a:extLst>
          </p:cNvPr>
          <p:cNvSpPr/>
          <p:nvPr/>
        </p:nvSpPr>
        <p:spPr>
          <a:xfrm>
            <a:off x="2680447" y="4249271"/>
            <a:ext cx="1963271" cy="3137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947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AFE9C-1C20-F55E-0776-DB501D56B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76C0AF8-8BC5-8762-D4B2-A74179C863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5120609-70B3-2D1D-346F-4D3EF37B7DA1}"/>
              </a:ext>
            </a:extLst>
          </p:cNvPr>
          <p:cNvSpPr txBox="1">
            <a:spLocks/>
          </p:cNvSpPr>
          <p:nvPr/>
        </p:nvSpPr>
        <p:spPr>
          <a:xfrm>
            <a:off x="2817153" y="13448"/>
            <a:ext cx="655768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</a:t>
            </a:r>
            <a:r>
              <a:rPr lang="en-US" sz="3600" dirty="0">
                <a:latin typeface="Montserrat" panose="00000500000000000000" pitchFamily="2" charset="-52"/>
              </a:rPr>
              <a:t>0</a:t>
            </a:r>
            <a:r>
              <a:rPr lang="ru-RU" sz="3600" dirty="0">
                <a:latin typeface="Montserrat" panose="00000500000000000000" pitchFamily="2" charset="-52"/>
              </a:rPr>
              <a:t>. Ответы на вопросы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B91910-9945-0D21-F3F9-29B612A96E0E}"/>
              </a:ext>
            </a:extLst>
          </p:cNvPr>
          <p:cNvSpPr txBox="1"/>
          <p:nvPr/>
        </p:nvSpPr>
        <p:spPr>
          <a:xfrm>
            <a:off x="226355" y="448235"/>
            <a:ext cx="1173928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5. Сопоставление частоты ОЗУ и ЦПУ: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-Процессор и оперативная память общаются через контроллер памяти, который в современных процессорах встроен прямо в сам процессор. Если частота ЦП больше, чем частота RAM, то будет появляться узкое место. Контроллер памяти определяет поддержку частоты ОЗУ. В </a:t>
            </a:r>
            <a:r>
              <a:rPr lang="en-US" sz="2400" dirty="0">
                <a:latin typeface="Montserrat" panose="00000500000000000000" pitchFamily="2" charset="-52"/>
              </a:rPr>
              <a:t>RAM  </a:t>
            </a:r>
            <a:r>
              <a:rPr lang="ru-RU" sz="2400" dirty="0">
                <a:latin typeface="Montserrat" panose="00000500000000000000" pitchFamily="2" charset="-52"/>
              </a:rPr>
              <a:t>указывается эффективная частота, </a:t>
            </a:r>
            <a:r>
              <a:rPr lang="en-US" sz="2400" dirty="0">
                <a:latin typeface="Montserrat" panose="00000500000000000000" pitchFamily="2" charset="-52"/>
              </a:rPr>
              <a:t>“</a:t>
            </a:r>
            <a:r>
              <a:rPr lang="ru-RU" sz="2400" dirty="0">
                <a:latin typeface="Montserrat" panose="00000500000000000000" pitchFamily="2" charset="-52"/>
              </a:rPr>
              <a:t>настоящая</a:t>
            </a:r>
            <a:r>
              <a:rPr lang="en-US" sz="2400" dirty="0">
                <a:latin typeface="Montserrat" panose="00000500000000000000" pitchFamily="2" charset="-52"/>
              </a:rPr>
              <a:t>”</a:t>
            </a:r>
            <a:r>
              <a:rPr lang="ru-RU" sz="2400" dirty="0">
                <a:latin typeface="Montserrat" panose="00000500000000000000" pitchFamily="2" charset="-52"/>
              </a:rPr>
              <a:t> частота= эффективная частота</a:t>
            </a:r>
            <a:r>
              <a:rPr lang="en-US" sz="2400" dirty="0">
                <a:latin typeface="Montserrat" panose="00000500000000000000" pitchFamily="2" charset="-52"/>
              </a:rPr>
              <a:t>/2</a:t>
            </a:r>
            <a:endParaRPr lang="ru-RU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6. Как реализуется  </a:t>
            </a:r>
            <a:r>
              <a:rPr lang="en-US" sz="2400" dirty="0">
                <a:latin typeface="Montserrat" panose="00000500000000000000" pitchFamily="2" charset="-52"/>
              </a:rPr>
              <a:t>Hyper-treading: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Для ОС ядро=2 логических процессора, ресурсы дублируются =</a:t>
            </a:r>
            <a:r>
              <a:rPr lang="en-US" sz="2400" dirty="0">
                <a:latin typeface="Montserrat" panose="00000500000000000000" pitchFamily="2" charset="-52"/>
              </a:rPr>
              <a:t>&gt; </a:t>
            </a:r>
            <a:r>
              <a:rPr lang="ru-RU" sz="2400" dirty="0">
                <a:latin typeface="Montserrat" panose="00000500000000000000" pitchFamily="2" charset="-52"/>
              </a:rPr>
              <a:t>у ядра появляется два независимых контекста исполнения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Но физические блоки не дублируются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6F627D-18E6-2C30-4EE0-9889D5581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0848" y="4670655"/>
            <a:ext cx="3910293" cy="1976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797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F9995-868B-4B4A-01EF-4AE79D2C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D09B207-1387-DBA8-B349-EA034E807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036713E-7D37-E8BC-AB31-3B305BED1B59}"/>
              </a:ext>
            </a:extLst>
          </p:cNvPr>
          <p:cNvSpPr txBox="1">
            <a:spLocks/>
          </p:cNvSpPr>
          <p:nvPr/>
        </p:nvSpPr>
        <p:spPr>
          <a:xfrm>
            <a:off x="2817153" y="13448"/>
            <a:ext cx="6557687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</a:t>
            </a:r>
            <a:r>
              <a:rPr lang="en-US" sz="3600" dirty="0">
                <a:latin typeface="Montserrat" panose="00000500000000000000" pitchFamily="2" charset="-52"/>
              </a:rPr>
              <a:t>0</a:t>
            </a:r>
            <a:r>
              <a:rPr lang="ru-RU" sz="3600" dirty="0">
                <a:latin typeface="Montserrat" panose="00000500000000000000" pitchFamily="2" charset="-52"/>
              </a:rPr>
              <a:t>. Ответы на вопросы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59482-A303-EFAE-D956-104858C79CA8}"/>
              </a:ext>
            </a:extLst>
          </p:cNvPr>
          <p:cNvSpPr txBox="1"/>
          <p:nvPr/>
        </p:nvSpPr>
        <p:spPr>
          <a:xfrm>
            <a:off x="226355" y="448235"/>
            <a:ext cx="1173928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Montserrat" panose="00000500000000000000" pitchFamily="2" charset="-52"/>
              </a:rPr>
              <a:t>7</a:t>
            </a:r>
            <a:r>
              <a:rPr lang="ru-RU" sz="2400" dirty="0">
                <a:latin typeface="Montserrat" panose="00000500000000000000" pitchFamily="2" charset="-52"/>
              </a:rPr>
              <a:t>. P и E ядра, как работают? Как распределяются задачи на них 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P-</a:t>
            </a:r>
            <a:r>
              <a:rPr lang="ru-RU" sz="2400" dirty="0" err="1">
                <a:latin typeface="Montserrat" panose="00000500000000000000" pitchFamily="2" charset="-52"/>
              </a:rPr>
              <a:t>cores</a:t>
            </a:r>
            <a:r>
              <a:rPr lang="ru-RU" sz="2400" dirty="0">
                <a:latin typeface="Montserrat" panose="00000500000000000000" pitchFamily="2" charset="-52"/>
              </a:rPr>
              <a:t> (Performance) — для максимальной производительности на поток, поддержка </a:t>
            </a:r>
            <a:r>
              <a:rPr lang="en-US" sz="2400" dirty="0">
                <a:latin typeface="Montserrat" panose="00000500000000000000" pitchFamily="2" charset="-52"/>
              </a:rPr>
              <a:t>HT, </a:t>
            </a:r>
            <a:r>
              <a:rPr lang="ru-RU" sz="2400" dirty="0">
                <a:latin typeface="Montserrat" panose="00000500000000000000" pitchFamily="2" charset="-52"/>
              </a:rPr>
              <a:t>крупные кэши, высокая частота, собственный </a:t>
            </a:r>
            <a:r>
              <a:rPr lang="en-US" sz="2400" dirty="0">
                <a:latin typeface="Montserrat" panose="00000500000000000000" pitchFamily="2" charset="-52"/>
              </a:rPr>
              <a:t>l2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E-</a:t>
            </a:r>
            <a:r>
              <a:rPr lang="ru-RU" sz="2400" dirty="0" err="1">
                <a:latin typeface="Montserrat" panose="00000500000000000000" pitchFamily="2" charset="-52"/>
              </a:rPr>
              <a:t>cores</a:t>
            </a:r>
            <a:r>
              <a:rPr lang="ru-RU" sz="2400" dirty="0">
                <a:latin typeface="Montserrat" panose="00000500000000000000" pitchFamily="2" charset="-52"/>
              </a:rPr>
              <a:t> (</a:t>
            </a:r>
            <a:r>
              <a:rPr lang="ru-RU" sz="2400" dirty="0" err="1">
                <a:latin typeface="Montserrat" panose="00000500000000000000" pitchFamily="2" charset="-52"/>
              </a:rPr>
              <a:t>Efficiency</a:t>
            </a:r>
            <a:r>
              <a:rPr lang="ru-RU" sz="2400" dirty="0">
                <a:latin typeface="Montserrat" panose="00000500000000000000" pitchFamily="2" charset="-52"/>
              </a:rPr>
              <a:t>) — для энергоэффективной параллельной обработки, нет </a:t>
            </a:r>
            <a:r>
              <a:rPr lang="en-US" sz="2400" dirty="0">
                <a:latin typeface="Montserrat" panose="00000500000000000000" pitchFamily="2" charset="-52"/>
              </a:rPr>
              <a:t>HT, </a:t>
            </a:r>
            <a:r>
              <a:rPr lang="ru-RU" sz="2400" dirty="0">
                <a:latin typeface="Montserrat" panose="00000500000000000000" pitchFamily="2" charset="-52"/>
              </a:rPr>
              <a:t>меньше кэш, </a:t>
            </a:r>
            <a:r>
              <a:rPr lang="en-US" sz="2400" dirty="0">
                <a:latin typeface="Montserrat" panose="00000500000000000000" pitchFamily="2" charset="-52"/>
              </a:rPr>
              <a:t>l2 </a:t>
            </a:r>
            <a:r>
              <a:rPr lang="ru-RU" sz="2400" dirty="0">
                <a:latin typeface="Montserrat" panose="00000500000000000000" pitchFamily="2" charset="-52"/>
              </a:rPr>
              <a:t>на кластер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Распределением задач между ним занимается планировщик ОС, </a:t>
            </a:r>
            <a:r>
              <a:rPr lang="en-US" sz="2400" dirty="0">
                <a:latin typeface="Montserrat" panose="00000500000000000000" pitchFamily="2" charset="-52"/>
              </a:rPr>
              <a:t>Thread Director </a:t>
            </a:r>
            <a:r>
              <a:rPr lang="ru-RU" sz="2400" dirty="0">
                <a:latin typeface="Montserrat" panose="00000500000000000000" pitchFamily="2" charset="-52"/>
              </a:rPr>
              <a:t>– анализ типа инструкций, задержек, передача информации ОС</a:t>
            </a:r>
          </a:p>
        </p:txBody>
      </p:sp>
    </p:spTree>
    <p:extLst>
      <p:ext uri="{BB962C8B-B14F-4D97-AF65-F5344CB8AC3E}">
        <p14:creationId xmlns:p14="http://schemas.microsoft.com/office/powerpoint/2010/main" val="1189724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8A0C34F-A53B-2AE5-6231-5AE93F8E8007}"/>
              </a:ext>
            </a:extLst>
          </p:cNvPr>
          <p:cNvSpPr txBox="1">
            <a:spLocks/>
          </p:cNvSpPr>
          <p:nvPr/>
        </p:nvSpPr>
        <p:spPr>
          <a:xfrm>
            <a:off x="3249701" y="67236"/>
            <a:ext cx="5692591" cy="54236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1. Сервер, введение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21F4F1-4BC4-D903-7E14-86423E51731C}"/>
              </a:ext>
            </a:extLst>
          </p:cNvPr>
          <p:cNvSpPr txBox="1"/>
          <p:nvPr/>
        </p:nvSpPr>
        <p:spPr>
          <a:xfrm>
            <a:off x="228601" y="609600"/>
            <a:ext cx="1181996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Сервер — это высокопроизводительный компьютер, предназначенный для выполнения специализированных задач в сетевой среде. Современные серверы представляют собой сложные технологические платформы, оптимизированные для обработки множественных запросов одновременно.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AACABBC-4F8E-AA9B-CCFA-360551681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179" y="2673279"/>
            <a:ext cx="9789642" cy="2382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388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4A136-4593-9DF6-0702-5F847913B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5AD5CE-C571-FAA1-E38E-B59F3C684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FA536A2-88D3-C6CC-379C-68AA260B8184}"/>
              </a:ext>
            </a:extLst>
          </p:cNvPr>
          <p:cNvSpPr txBox="1">
            <a:spLocks/>
          </p:cNvSpPr>
          <p:nvPr/>
        </p:nvSpPr>
        <p:spPr>
          <a:xfrm>
            <a:off x="3249701" y="67236"/>
            <a:ext cx="5692591" cy="54236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1. Сервер, введение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B450B1-7C3A-3C1D-2AF6-2AAD3E7E7A56}"/>
              </a:ext>
            </a:extLst>
          </p:cNvPr>
          <p:cNvSpPr txBox="1"/>
          <p:nvPr/>
        </p:nvSpPr>
        <p:spPr>
          <a:xfrm>
            <a:off x="228601" y="788893"/>
            <a:ext cx="426271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Типы серверов: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Файловые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Для виртуализации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Для БД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Веб-сервер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1863D9-BED1-C6A0-B80E-D0A7BF6BE53A}"/>
              </a:ext>
            </a:extLst>
          </p:cNvPr>
          <p:cNvSpPr txBox="1"/>
          <p:nvPr/>
        </p:nvSpPr>
        <p:spPr>
          <a:xfrm>
            <a:off x="7046259" y="3428999"/>
            <a:ext cx="49754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latin typeface="Montserrat" panose="00000500000000000000" pitchFamily="2" charset="-52"/>
              </a:rPr>
              <a:t>Техническая реализация:</a:t>
            </a:r>
          </a:p>
          <a:p>
            <a:pPr marL="342900" indent="-342900" algn="r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Выделенный</a:t>
            </a:r>
          </a:p>
          <a:p>
            <a:pPr marL="342900" indent="-342900" algn="r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Невыделенный</a:t>
            </a:r>
          </a:p>
          <a:p>
            <a:pPr marL="342900" indent="-342900" algn="r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Одноплатный</a:t>
            </a:r>
          </a:p>
          <a:p>
            <a:pPr marL="342900" indent="-342900" algn="r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Виртуальный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8D032F-8083-D9A5-4CAA-71A02FDF1316}"/>
              </a:ext>
            </a:extLst>
          </p:cNvPr>
          <p:cNvSpPr txBox="1"/>
          <p:nvPr/>
        </p:nvSpPr>
        <p:spPr>
          <a:xfrm>
            <a:off x="403405" y="5059467"/>
            <a:ext cx="5692591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>
                <a:latin typeface="Montserrat" panose="00000500000000000000" pitchFamily="2" charset="-52"/>
              </a:rPr>
              <a:t>Типы серверных архитектур:</a:t>
            </a:r>
          </a:p>
          <a:p>
            <a:pPr marL="342900" indent="-342900" algn="ctr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Клиент-сервер</a:t>
            </a:r>
          </a:p>
          <a:p>
            <a:pPr marL="342900" indent="-342900" algn="ctr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Пиринговая</a:t>
            </a:r>
          </a:p>
        </p:txBody>
      </p:sp>
    </p:spTree>
    <p:extLst>
      <p:ext uri="{BB962C8B-B14F-4D97-AF65-F5344CB8AC3E}">
        <p14:creationId xmlns:p14="http://schemas.microsoft.com/office/powerpoint/2010/main" val="335496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16395-EA04-31AA-70D7-AA6C8E661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A81B535-DDB5-1509-D1C0-F1BF8BFC87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35F9D78-5547-792B-6B88-C25E7E932360}"/>
              </a:ext>
            </a:extLst>
          </p:cNvPr>
          <p:cNvSpPr txBox="1">
            <a:spLocks/>
          </p:cNvSpPr>
          <p:nvPr/>
        </p:nvSpPr>
        <p:spPr>
          <a:xfrm>
            <a:off x="3249701" y="67236"/>
            <a:ext cx="5692591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1. Сервер, история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7A3F88-CC2D-48CC-A057-D304DDFBBB05}"/>
              </a:ext>
            </a:extLst>
          </p:cNvPr>
          <p:cNvSpPr txBox="1"/>
          <p:nvPr/>
        </p:nvSpPr>
        <p:spPr>
          <a:xfrm>
            <a:off x="183776" y="533401"/>
            <a:ext cx="11040035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Montserrat" panose="00000500000000000000" pitchFamily="2" charset="-52"/>
              </a:rPr>
              <a:t>Этапы:</a:t>
            </a:r>
          </a:p>
          <a:p>
            <a:pPr marL="514350" indent="-514350" algn="just">
              <a:buAutoNum type="arabicPeriod"/>
            </a:pPr>
            <a:r>
              <a:rPr lang="ru-RU" sz="2800" dirty="0">
                <a:latin typeface="Montserrat" panose="00000500000000000000" pitchFamily="2" charset="-52"/>
              </a:rPr>
              <a:t>Эпоха мейнфреймов(1960-е – 1970-е)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1964г., </a:t>
            </a:r>
            <a:r>
              <a:rPr lang="en-US" sz="2400" dirty="0">
                <a:latin typeface="Montserrat" panose="00000500000000000000" pitchFamily="2" charset="-52"/>
              </a:rPr>
              <a:t>IBM System/360, </a:t>
            </a:r>
            <a:r>
              <a:rPr lang="ru-RU" sz="2400" dirty="0">
                <a:latin typeface="Montserrat" panose="00000500000000000000" pitchFamily="2" charset="-52"/>
              </a:rPr>
              <a:t>обратная совместимость, единая архитектура у семейства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2. </a:t>
            </a:r>
            <a:r>
              <a:rPr lang="ru-RU" sz="2800" dirty="0">
                <a:latin typeface="Montserrat" panose="00000500000000000000" pitchFamily="2" charset="-52"/>
              </a:rPr>
              <a:t>Рождение клиент-серверной модели(1980-е)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первые упоминания «хост-сервер» для описания программы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появление </a:t>
            </a:r>
            <a:r>
              <a:rPr lang="en-US" sz="2400" dirty="0">
                <a:latin typeface="Montserrat" panose="00000500000000000000" pitchFamily="2" charset="-52"/>
              </a:rPr>
              <a:t>DRAM, SCSI</a:t>
            </a:r>
          </a:p>
          <a:p>
            <a:pPr algn="just"/>
            <a:r>
              <a:rPr lang="en-US" sz="2400" dirty="0">
                <a:latin typeface="Montserrat" panose="00000500000000000000" pitchFamily="2" charset="-52"/>
              </a:rPr>
              <a:t>3</a:t>
            </a:r>
            <a:r>
              <a:rPr lang="ru-RU" sz="2400" dirty="0">
                <a:latin typeface="Montserrat" panose="00000500000000000000" pitchFamily="2" charset="-52"/>
              </a:rPr>
              <a:t>. </a:t>
            </a:r>
            <a:r>
              <a:rPr lang="ru-RU" sz="2800" dirty="0">
                <a:latin typeface="Montserrat" panose="00000500000000000000" pitchFamily="2" charset="-52"/>
              </a:rPr>
              <a:t>Время для </a:t>
            </a:r>
            <a:r>
              <a:rPr lang="en-US" sz="2800" dirty="0">
                <a:latin typeface="Montserrat" panose="00000500000000000000" pitchFamily="2" charset="-52"/>
              </a:rPr>
              <a:t>Unix</a:t>
            </a:r>
            <a:r>
              <a:rPr lang="ru-RU" sz="2800" dirty="0">
                <a:latin typeface="Montserrat" panose="00000500000000000000" pitchFamily="2" charset="-52"/>
              </a:rPr>
              <a:t>(19</a:t>
            </a:r>
            <a:r>
              <a:rPr lang="en-US" sz="2800" dirty="0">
                <a:latin typeface="Montserrat" panose="00000500000000000000" pitchFamily="2" charset="-52"/>
              </a:rPr>
              <a:t>9</a:t>
            </a:r>
            <a:r>
              <a:rPr lang="ru-RU" sz="2800" dirty="0">
                <a:latin typeface="Montserrat" panose="00000500000000000000" pitchFamily="2" charset="-52"/>
              </a:rPr>
              <a:t>0-е)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время расцвета Unix-серверов на базе процессоров с архитектурой RISC</a:t>
            </a:r>
            <a:endParaRPr lang="en-US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запуск первого веб-сервера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4. Эра </a:t>
            </a:r>
            <a:r>
              <a:rPr lang="en-US" sz="2800" dirty="0">
                <a:latin typeface="Montserrat" panose="00000500000000000000" pitchFamily="2" charset="-52"/>
              </a:rPr>
              <a:t>x86</a:t>
            </a:r>
            <a:r>
              <a:rPr lang="ru-RU" sz="2800" dirty="0">
                <a:latin typeface="Montserrat" panose="00000500000000000000" pitchFamily="2" charset="-52"/>
              </a:rPr>
              <a:t>(2000-е)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крупные заказчики начали мигрировать с проприетарных Unix-систем на более доступные кластеры на базе x86 и Linux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-  </a:t>
            </a:r>
            <a:r>
              <a:rPr lang="ru-RU" sz="2400" dirty="0">
                <a:latin typeface="Montserrat" panose="00000500000000000000" pitchFamily="2" charset="-52"/>
              </a:rPr>
              <a:t>появление первых блейд-серверов</a:t>
            </a:r>
          </a:p>
          <a:p>
            <a:pPr marL="342900" indent="-342900" algn="just">
              <a:buFontTx/>
              <a:buChar char="-"/>
            </a:pPr>
            <a:endParaRPr lang="en-US" sz="24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45800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BA25B-D635-B5DB-3EA2-AE9BFB88F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449B1B3-955B-8F4B-ED25-EDAD2FF65C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8029B62-0BB1-0381-8205-3D7836495EE9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1. Сервер, внутреннее устройство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802775-409D-A0D1-6E1F-57D190DBE867}"/>
              </a:ext>
            </a:extLst>
          </p:cNvPr>
          <p:cNvSpPr txBox="1"/>
          <p:nvPr/>
        </p:nvSpPr>
        <p:spPr>
          <a:xfrm>
            <a:off x="183776" y="533401"/>
            <a:ext cx="11040035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Montserrat" panose="00000500000000000000" pitchFamily="2" charset="-52"/>
              </a:rPr>
              <a:t>Структура: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CPU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Материнская плата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Сетевые адаптеры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Блоки питания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Охлаждение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Диски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Корпус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0000500000000000000" pitchFamily="2" charset="-52"/>
              </a:rPr>
              <a:t>GPU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endParaRPr lang="en-US" sz="2400" dirty="0">
              <a:latin typeface="Montserrat" panose="00000500000000000000" pitchFamily="2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500598-67CC-C801-98AD-4570E13A0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5918" y="542364"/>
            <a:ext cx="6813745" cy="5110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539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68FF0-E160-8EBA-DCF2-550BF2921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98F8F4-B868-F79C-2839-CAFADE5873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8015F44-3544-711E-5E95-E2335CD1F575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1. Сервер, различия с АРМ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49D14-6373-84FE-538C-694C4B5EB78C}"/>
              </a:ext>
            </a:extLst>
          </p:cNvPr>
          <p:cNvSpPr txBox="1"/>
          <p:nvPr/>
        </p:nvSpPr>
        <p:spPr>
          <a:xfrm>
            <a:off x="186014" y="757518"/>
            <a:ext cx="11819965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Автоматизированное рабочее место (АРМ) — это рабочее место специалиста, оснащенное персональным компьютером, периферийными устройствами и специализированным программным обеспечением.</a:t>
            </a:r>
          </a:p>
          <a:p>
            <a:pPr algn="just"/>
            <a:endParaRPr lang="ru-RU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600" i="1" dirty="0">
                <a:latin typeface="Montserrat" panose="00000500000000000000" pitchFamily="2" charset="-52"/>
              </a:rPr>
              <a:t>Требования, предъявляемые серверу, но не предъявляемые АРМ: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отказоустойчивость, работа 24 на 7, репликация данных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Аппаратная часть: регистровая ОЗУ с </a:t>
            </a:r>
            <a:r>
              <a:rPr lang="en-US" sz="2400" dirty="0">
                <a:latin typeface="Montserrat" panose="00000500000000000000" pitchFamily="2" charset="-52"/>
              </a:rPr>
              <a:t>ECC</a:t>
            </a:r>
            <a:r>
              <a:rPr lang="ru-RU" sz="2400" dirty="0">
                <a:latin typeface="Montserrat" panose="00000500000000000000" pitchFamily="2" charset="-52"/>
              </a:rPr>
              <a:t>, БП с резервированием, горячая замена </a:t>
            </a:r>
            <a:r>
              <a:rPr lang="en-US" sz="2400" dirty="0">
                <a:latin typeface="Montserrat" panose="00000500000000000000" pitchFamily="2" charset="-52"/>
              </a:rPr>
              <a:t>HDD/SSD</a:t>
            </a:r>
            <a:r>
              <a:rPr lang="ru-RU" sz="2400" dirty="0">
                <a:latin typeface="Montserrat" panose="00000500000000000000" pitchFamily="2" charset="-52"/>
              </a:rPr>
              <a:t>,</a:t>
            </a:r>
            <a:r>
              <a:rPr lang="en-US" sz="2400" dirty="0">
                <a:latin typeface="Montserrat" panose="00000500000000000000" pitchFamily="2" charset="-52"/>
              </a:rPr>
              <a:t> </a:t>
            </a:r>
            <a:r>
              <a:rPr lang="ru-RU" sz="2400" dirty="0">
                <a:latin typeface="Montserrat" panose="00000500000000000000" pitchFamily="2" charset="-52"/>
              </a:rPr>
              <a:t>большое количество </a:t>
            </a:r>
            <a:r>
              <a:rPr lang="en-US" sz="2400" dirty="0">
                <a:latin typeface="Montserrat" panose="00000500000000000000" pitchFamily="2" charset="-52"/>
              </a:rPr>
              <a:t>PCIe, DIMM</a:t>
            </a:r>
            <a:endParaRPr lang="ru-RU" sz="24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54980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3CCE3-7257-C5B2-C549-EAA8D7C4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1FB1B0A-50C0-3C5F-9390-6278469886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8F94CC5-1A70-A50A-C753-30AD04FF1081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1. Сервер, кластеризация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56DCC-F9FB-C904-5DEF-FAF7403F9D74}"/>
              </a:ext>
            </a:extLst>
          </p:cNvPr>
          <p:cNvSpPr txBox="1"/>
          <p:nvPr/>
        </p:nvSpPr>
        <p:spPr>
          <a:xfrm>
            <a:off x="186014" y="416860"/>
            <a:ext cx="1181996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Кластеризация серверов —это метод защиты серверов, но и архитектурный подход к обеспечению HA, FT и/или масштабируемости сервисов за счёт объединения нескольких физических или виртуальных серверов (узлов) в единую логическую систему.</a:t>
            </a:r>
          </a:p>
          <a:p>
            <a:pPr algn="just"/>
            <a:endParaRPr lang="ru-RU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Ключевая идея кластеризации — устранение единой точки отказа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E84B01E-4D33-21F5-B5B5-B5B4FFD3E6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014" y="2796902"/>
            <a:ext cx="6920753" cy="32076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426F87-D5CA-4841-CE26-752C3A6EBD75}"/>
              </a:ext>
            </a:extLst>
          </p:cNvPr>
          <p:cNvSpPr txBox="1"/>
          <p:nvPr/>
        </p:nvSpPr>
        <p:spPr>
          <a:xfrm>
            <a:off x="7207624" y="2725184"/>
            <a:ext cx="490369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400" u="sng" dirty="0">
                <a:latin typeface="Montserrat" panose="00000500000000000000" pitchFamily="2" charset="-52"/>
              </a:rPr>
              <a:t>Типы кластеров:</a:t>
            </a:r>
          </a:p>
          <a:p>
            <a:pPr marL="342900" indent="-342900" algn="r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Отказоустойчивые</a:t>
            </a:r>
          </a:p>
          <a:p>
            <a:pPr marL="342900" indent="-342900" algn="r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Вычислительные</a:t>
            </a:r>
          </a:p>
          <a:p>
            <a:pPr marL="342900" indent="-342900" algn="r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Балансирующие нагрузку</a:t>
            </a:r>
          </a:p>
          <a:p>
            <a:pPr algn="r"/>
            <a:r>
              <a:rPr lang="ru-RU" sz="2400" u="sng" dirty="0">
                <a:latin typeface="Montserrat" panose="00000500000000000000" pitchFamily="2" charset="-52"/>
              </a:rPr>
              <a:t>ПО для кластеризации:</a:t>
            </a:r>
          </a:p>
          <a:p>
            <a:pPr marL="342900" indent="-342900" algn="r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Менеджер контрольных точек</a:t>
            </a:r>
          </a:p>
          <a:p>
            <a:pPr marL="342900" indent="-342900" algn="r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Менеджер коммуникаций</a:t>
            </a:r>
          </a:p>
          <a:p>
            <a:pPr marL="342900" indent="-342900" algn="r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Монитор </a:t>
            </a:r>
            <a:r>
              <a:rPr lang="ru-RU" sz="2400" dirty="0" err="1">
                <a:latin typeface="Montserrat" panose="00000500000000000000" pitchFamily="2" charset="-52"/>
              </a:rPr>
              <a:t>ресуров</a:t>
            </a:r>
            <a:endParaRPr lang="ru-RU" sz="24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30665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56398-5A81-AC15-E81F-613E2D027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F318EC0-CBF1-49F2-8C54-B94CB37336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5BD4312-6132-8554-6CDE-AD241BAD7242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1. Сервер, </a:t>
            </a:r>
            <a:r>
              <a:rPr lang="en-US" sz="3600" dirty="0">
                <a:latin typeface="Montserrat" panose="00000500000000000000" pitchFamily="2" charset="-52"/>
              </a:rPr>
              <a:t>CI&amp;HCI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A057A6-B55F-1A75-7248-8DCEA28BC67B}"/>
              </a:ext>
            </a:extLst>
          </p:cNvPr>
          <p:cNvSpPr txBox="1"/>
          <p:nvPr/>
        </p:nvSpPr>
        <p:spPr>
          <a:xfrm>
            <a:off x="186014" y="416860"/>
            <a:ext cx="1181996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u="sng" dirty="0">
                <a:latin typeface="Montserrat" panose="00000500000000000000" pitchFamily="2" charset="-52"/>
              </a:rPr>
              <a:t>Конвергентная инфраструктура (CI) </a:t>
            </a:r>
            <a:r>
              <a:rPr lang="ru-RU" sz="2400" dirty="0">
                <a:latin typeface="Montserrat" panose="00000500000000000000" pitchFamily="2" charset="-52"/>
              </a:rPr>
              <a:t>— это заранее спроектированный и протестированный комплекс вычислительных ресурсов, хранения данных и сетевой инфраструктуры, поставляемый как единая система с гарантированной совместимостью компонентов. Это стек оборудования.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Нужна для: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Упрощения и развертывания ЦОД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Снижения рисков несовместимости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Централизация поддержки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Все устройства дискретны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F8A68E6-8807-4A50-7D09-278078FDB3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11" r="8134"/>
          <a:stretch>
            <a:fillRect/>
          </a:stretch>
        </p:blipFill>
        <p:spPr bwMode="auto">
          <a:xfrm>
            <a:off x="6600262" y="2031781"/>
            <a:ext cx="5405717" cy="4183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001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F0577-127E-99AD-620D-6AD745F7A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8D7CBFB-5B3C-648D-DD98-828CC2209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07CA68D-5987-1EA1-87D2-DF19108190EF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1. Сервер, </a:t>
            </a:r>
            <a:r>
              <a:rPr lang="en-US" sz="3600" dirty="0">
                <a:latin typeface="Montserrat" panose="00000500000000000000" pitchFamily="2" charset="-52"/>
              </a:rPr>
              <a:t>CI&amp;HCI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D136A7-1E9F-6099-4BE1-C54B6B1E2D13}"/>
              </a:ext>
            </a:extLst>
          </p:cNvPr>
          <p:cNvSpPr txBox="1"/>
          <p:nvPr/>
        </p:nvSpPr>
        <p:spPr>
          <a:xfrm>
            <a:off x="186014" y="416860"/>
            <a:ext cx="1181996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u="sng" dirty="0" err="1">
                <a:latin typeface="Montserrat" panose="00000500000000000000" pitchFamily="2" charset="-52"/>
              </a:rPr>
              <a:t>Гиперконвергентная</a:t>
            </a:r>
            <a:r>
              <a:rPr lang="ru-RU" sz="2400" u="sng" dirty="0">
                <a:latin typeface="Montserrat" panose="00000500000000000000" pitchFamily="2" charset="-52"/>
              </a:rPr>
              <a:t> инфраструктура (НCI) </a:t>
            </a:r>
            <a:r>
              <a:rPr lang="ru-RU" sz="2400" dirty="0">
                <a:latin typeface="Montserrat" panose="00000500000000000000" pitchFamily="2" charset="-52"/>
              </a:rPr>
              <a:t>— программно-определяемая архитектура, в которой вычисления, хранение и виртуализация объединены внутри каждого узла кластера. Хранилище формируется из локальных дисков серверов. Быстрый вход, не требует многих трат</a:t>
            </a:r>
          </a:p>
          <a:p>
            <a:pPr algn="just"/>
            <a:endParaRPr lang="ru-RU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Принцип работы </a:t>
            </a:r>
            <a:r>
              <a:rPr lang="en-US" sz="2400" dirty="0">
                <a:latin typeface="Montserrat" panose="00000500000000000000" pitchFamily="2" charset="-52"/>
              </a:rPr>
              <a:t>HCI</a:t>
            </a:r>
            <a:r>
              <a:rPr lang="ru-RU" sz="2400" dirty="0">
                <a:latin typeface="Montserrat" panose="00000500000000000000" pitchFamily="2" charset="-52"/>
              </a:rPr>
              <a:t>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Узлы объединяем в кластер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Локальные диски находятся в распределенном хранилище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Управление полностью программное, с единой панели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Масштабирование с помощью добавления узлов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Репликация</a:t>
            </a:r>
          </a:p>
        </p:txBody>
      </p:sp>
    </p:spTree>
    <p:extLst>
      <p:ext uri="{BB962C8B-B14F-4D97-AF65-F5344CB8AC3E}">
        <p14:creationId xmlns:p14="http://schemas.microsoft.com/office/powerpoint/2010/main" val="3256076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441EF-7944-C319-B3ED-EEF776141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D203F38-5068-29EF-B1AE-EB2A81526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310D272-B5FC-7640-5B1F-1E5B93B9927B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1. Сервер, вендоры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5DF0CAD-33BC-322F-D825-CAF375789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472" y="1106414"/>
            <a:ext cx="8538004" cy="464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06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C7460-079F-C223-70C6-8B45719CB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DEEB8AE-36ED-709D-A9D0-7CEA702A3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6DBC5A28-0907-3F10-55CA-C4D96687F006}"/>
              </a:ext>
            </a:extLst>
          </p:cNvPr>
          <p:cNvSpPr txBox="1">
            <a:spLocks/>
          </p:cNvSpPr>
          <p:nvPr/>
        </p:nvSpPr>
        <p:spPr>
          <a:xfrm>
            <a:off x="3249701" y="67236"/>
            <a:ext cx="5692591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введение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DC29CE-1B40-1BCF-34B0-1E324DF5A6B1}"/>
              </a:ext>
            </a:extLst>
          </p:cNvPr>
          <p:cNvSpPr txBox="1"/>
          <p:nvPr/>
        </p:nvSpPr>
        <p:spPr>
          <a:xfrm>
            <a:off x="228601" y="609600"/>
            <a:ext cx="1181996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Системы хранения данных (СХД) представляют собой совокупность аппаратных и программных компонентов, предназначенных для хранения и обработки больших объемов информации. В качестве носителей информации используются жесткие диски, в первую очередь SSD и гибридные решения, объединяющие SSD и HDD накопители в одной СХД.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2644A809-CA92-D21D-D333-E4E8B7E1B2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B67F399-1AC0-6F72-3DD0-09650ADDB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943" y="3276600"/>
            <a:ext cx="5971280" cy="277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506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9AA5A-71F8-B618-21A9-C30877F86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D29D965-E518-2C5F-9BFA-DC41D41578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9E1071A-F7D4-D9F9-C960-3F59B99D4E89}"/>
              </a:ext>
            </a:extLst>
          </p:cNvPr>
          <p:cNvSpPr txBox="1">
            <a:spLocks/>
          </p:cNvSpPr>
          <p:nvPr/>
        </p:nvSpPr>
        <p:spPr>
          <a:xfrm>
            <a:off x="3249701" y="67236"/>
            <a:ext cx="5692591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история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DA359-DF5C-3028-DD8C-216EF69308FE}"/>
              </a:ext>
            </a:extLst>
          </p:cNvPr>
          <p:cNvSpPr txBox="1"/>
          <p:nvPr/>
        </p:nvSpPr>
        <p:spPr>
          <a:xfrm>
            <a:off x="183776" y="533401"/>
            <a:ext cx="1188271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latin typeface="Montserrat" panose="00000500000000000000" pitchFamily="2" charset="-52"/>
              </a:rPr>
              <a:t>Этапы:</a:t>
            </a:r>
          </a:p>
          <a:p>
            <a:pPr marL="514350" indent="-514350" algn="just">
              <a:buAutoNum type="arabicPeriod"/>
            </a:pPr>
            <a:r>
              <a:rPr lang="ru-RU" sz="2800" dirty="0">
                <a:latin typeface="Montserrat" panose="00000500000000000000" pitchFamily="2" charset="-52"/>
              </a:rPr>
              <a:t>Предыстория, первые носители(до 1950-х)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Появление перфокарт, магнитных лент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2. </a:t>
            </a:r>
            <a:r>
              <a:rPr lang="en-US" sz="2800" dirty="0">
                <a:latin typeface="Montserrat" panose="00000500000000000000" pitchFamily="2" charset="-52"/>
              </a:rPr>
              <a:t>HDD</a:t>
            </a:r>
            <a:r>
              <a:rPr lang="ru-RU" sz="2800" dirty="0">
                <a:latin typeface="Montserrat" panose="00000500000000000000" pitchFamily="2" charset="-52"/>
              </a:rPr>
              <a:t>(1950-е - 1980-е)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Рождение </a:t>
            </a:r>
            <a:r>
              <a:rPr lang="en-US" sz="2400" dirty="0">
                <a:latin typeface="Montserrat" panose="00000500000000000000" pitchFamily="2" charset="-52"/>
              </a:rPr>
              <a:t>HDD, </a:t>
            </a:r>
            <a:r>
              <a:rPr lang="ru-RU" sz="2400" dirty="0">
                <a:latin typeface="Montserrat" panose="00000500000000000000" pitchFamily="2" charset="-52"/>
              </a:rPr>
              <a:t>устранение проблемы последовательного доступа</a:t>
            </a:r>
          </a:p>
          <a:p>
            <a:pPr algn="just"/>
            <a:r>
              <a:rPr lang="en-US" sz="2400" dirty="0">
                <a:latin typeface="Montserrat" panose="00000500000000000000" pitchFamily="2" charset="-52"/>
              </a:rPr>
              <a:t>3</a:t>
            </a:r>
            <a:r>
              <a:rPr lang="ru-RU" sz="2400" dirty="0">
                <a:latin typeface="Montserrat" panose="00000500000000000000" pitchFamily="2" charset="-52"/>
              </a:rPr>
              <a:t>. </a:t>
            </a:r>
            <a:r>
              <a:rPr lang="ru-RU" sz="2800" dirty="0">
                <a:latin typeface="Montserrat" panose="00000500000000000000" pitchFamily="2" charset="-52"/>
              </a:rPr>
              <a:t>Появление новых технологий(1980-е - 1990-е)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Стандартизация размеров </a:t>
            </a:r>
            <a:r>
              <a:rPr lang="en-US" sz="2400" dirty="0">
                <a:latin typeface="Montserrat" panose="00000500000000000000" pitchFamily="2" charset="-52"/>
              </a:rPr>
              <a:t>HDD, </a:t>
            </a:r>
            <a:r>
              <a:rPr lang="ru-RU" sz="2400" dirty="0">
                <a:latin typeface="Montserrat" panose="00000500000000000000" pitchFamily="2" charset="-52"/>
              </a:rPr>
              <a:t>появление </a:t>
            </a:r>
            <a:r>
              <a:rPr lang="en-US" sz="2400" dirty="0">
                <a:latin typeface="Montserrat" panose="00000500000000000000" pitchFamily="2" charset="-52"/>
              </a:rPr>
              <a:t>IDE, SCSI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4. </a:t>
            </a:r>
            <a:r>
              <a:rPr lang="en-US" sz="2800" dirty="0">
                <a:latin typeface="Montserrat" panose="00000500000000000000" pitchFamily="2" charset="-52"/>
              </a:rPr>
              <a:t>C</a:t>
            </a:r>
            <a:r>
              <a:rPr lang="ru-RU" sz="2800" dirty="0" err="1">
                <a:latin typeface="Montserrat" panose="00000500000000000000" pitchFamily="2" charset="-52"/>
              </a:rPr>
              <a:t>етевые</a:t>
            </a:r>
            <a:r>
              <a:rPr lang="ru-RU" sz="2800" dirty="0">
                <a:latin typeface="Montserrat" panose="00000500000000000000" pitchFamily="2" charset="-52"/>
              </a:rPr>
              <a:t>, корпоративные решения(1990-е - 2000-е)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Появление </a:t>
            </a:r>
            <a:r>
              <a:rPr lang="en-US" sz="2400" dirty="0">
                <a:latin typeface="Montserrat" panose="00000500000000000000" pitchFamily="2" charset="-52"/>
              </a:rPr>
              <a:t>RAID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en-US" sz="2400" dirty="0">
                <a:latin typeface="Montserrat" panose="00000500000000000000" pitchFamily="2" charset="-52"/>
              </a:rPr>
              <a:t>DAS, SAN, NAS</a:t>
            </a:r>
          </a:p>
          <a:p>
            <a:pPr algn="just"/>
            <a:r>
              <a:rPr lang="en-US" sz="2400" dirty="0">
                <a:latin typeface="Montserrat" panose="00000500000000000000" pitchFamily="2" charset="-52"/>
              </a:rPr>
              <a:t>5. </a:t>
            </a:r>
            <a:r>
              <a:rPr lang="ru-RU" sz="2400" dirty="0">
                <a:latin typeface="Montserrat" panose="00000500000000000000" pitchFamily="2" charset="-52"/>
              </a:rPr>
              <a:t>Эра </a:t>
            </a:r>
            <a:r>
              <a:rPr lang="ru-RU" sz="2400" dirty="0" err="1">
                <a:latin typeface="Montserrat" panose="00000500000000000000" pitchFamily="2" charset="-52"/>
              </a:rPr>
              <a:t>флеш</a:t>
            </a:r>
            <a:r>
              <a:rPr lang="ru-RU" sz="2400" dirty="0">
                <a:latin typeface="Montserrat" panose="00000500000000000000" pitchFamily="2" charset="-52"/>
              </a:rPr>
              <a:t>-памяти и настоящее (2000-е - настоящее)</a:t>
            </a:r>
          </a:p>
          <a:p>
            <a:pPr marL="342900" indent="-342900" algn="just">
              <a:buFontTx/>
              <a:buChar char="-"/>
            </a:pPr>
            <a:r>
              <a:rPr lang="en-US" sz="2400" dirty="0">
                <a:latin typeface="Montserrat" panose="00000500000000000000" pitchFamily="2" charset="-52"/>
              </a:rPr>
              <a:t>SSD,</a:t>
            </a:r>
            <a:r>
              <a:rPr lang="ru-RU" sz="2400" dirty="0">
                <a:latin typeface="Montserrat" panose="00000500000000000000" pitchFamily="2" charset="-52"/>
              </a:rPr>
              <a:t> интерфейсы для него </a:t>
            </a:r>
            <a:r>
              <a:rPr lang="en-US" sz="2400" dirty="0">
                <a:latin typeface="Montserrat" panose="00000500000000000000" pitchFamily="2" charset="-52"/>
              </a:rPr>
              <a:t>SATA, SAS, </a:t>
            </a:r>
            <a:r>
              <a:rPr lang="en-US" sz="2400" dirty="0" err="1">
                <a:latin typeface="Montserrat" panose="00000500000000000000" pitchFamily="2" charset="-52"/>
              </a:rPr>
              <a:t>NVMe</a:t>
            </a:r>
            <a:r>
              <a:rPr lang="en-US" sz="2400" dirty="0">
                <a:latin typeface="Montserrat" panose="00000500000000000000" pitchFamily="2" charset="-52"/>
              </a:rPr>
              <a:t>; QLC,PLC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Облачные хранилища</a:t>
            </a:r>
            <a:endParaRPr lang="en-US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en-US" sz="2400" dirty="0">
                <a:latin typeface="Montserrat" panose="00000500000000000000" pitchFamily="2" charset="-52"/>
              </a:rPr>
              <a:t>SDS</a:t>
            </a:r>
            <a:endParaRPr lang="ru-RU" sz="24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448978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A4CF5-3AD8-3EFD-F675-BDE3C3BA9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E3BE5E6-1BF7-8D08-2924-8E35382254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2B8AE19-40E2-B439-9B34-EECFF08441E8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внутреннее устройство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81765F-9506-7FF7-2E31-F2A2096C5F1E}"/>
              </a:ext>
            </a:extLst>
          </p:cNvPr>
          <p:cNvSpPr txBox="1"/>
          <p:nvPr/>
        </p:nvSpPr>
        <p:spPr>
          <a:xfrm>
            <a:off x="183776" y="533401"/>
            <a:ext cx="1104003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Montserrat" panose="00000500000000000000" pitchFamily="2" charset="-52"/>
              </a:rPr>
              <a:t>Структура: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Блоки питания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Охлаждение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Диски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Корпус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 err="1">
                <a:latin typeface="Montserrat" panose="00000500000000000000" pitchFamily="2" charset="-52"/>
              </a:rPr>
              <a:t>Бэкплейн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Контроллер СХД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400" dirty="0">
                <a:latin typeface="Montserrat" panose="00000500000000000000" pitchFamily="2" charset="-52"/>
              </a:rPr>
              <a:t>Контроллер </a:t>
            </a:r>
            <a:r>
              <a:rPr lang="en-US" sz="2400" dirty="0">
                <a:latin typeface="Montserrat" panose="00000500000000000000" pitchFamily="2" charset="-52"/>
              </a:rPr>
              <a:t>HBA/RAID</a:t>
            </a:r>
            <a:endParaRPr lang="ru-RU" sz="24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endParaRPr lang="en-US" sz="2400" dirty="0">
              <a:latin typeface="Montserrat" panose="00000500000000000000" pitchFamily="2" charset="-52"/>
            </a:endParaRPr>
          </a:p>
        </p:txBody>
      </p:sp>
      <p:pic>
        <p:nvPicPr>
          <p:cNvPr id="5122" name="Picture 2" descr="Основные компоненты оборудования в современной СХД">
            <a:extLst>
              <a:ext uri="{FF2B5EF4-FFF2-40B4-BE49-F238E27FC236}">
                <a16:creationId xmlns:a16="http://schemas.microsoft.com/office/drawing/2014/main" id="{5D3A6FD5-E79E-092A-10FF-9DDC8F181D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041" y="830703"/>
            <a:ext cx="8520959" cy="2549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09349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98C763-DC84-7AEF-CFC2-9FBE6C06F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339A1CC-5526-88D0-5FC1-4C19AF57CF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2117D526-2E68-7A30-BFF7-D1FE9D5BA2FE}"/>
              </a:ext>
            </a:extLst>
          </p:cNvPr>
          <p:cNvSpPr txBox="1">
            <a:spLocks/>
          </p:cNvSpPr>
          <p:nvPr/>
        </p:nvSpPr>
        <p:spPr>
          <a:xfrm>
            <a:off x="1150279" y="130724"/>
            <a:ext cx="10348614" cy="54236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dirty="0">
                <a:latin typeface="Montserrat" panose="00000500000000000000" pitchFamily="2" charset="-52"/>
              </a:rPr>
              <a:t>Часть 2. СХД, обоснование необходимости применения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273AE-D4FF-2C2A-4F91-7DD4207A3CB3}"/>
              </a:ext>
            </a:extLst>
          </p:cNvPr>
          <p:cNvSpPr txBox="1"/>
          <p:nvPr/>
        </p:nvSpPr>
        <p:spPr>
          <a:xfrm>
            <a:off x="183776" y="533401"/>
            <a:ext cx="1104003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>
                <a:latin typeface="Montserrat" panose="00000500000000000000" pitchFamily="2" charset="-52"/>
              </a:rPr>
              <a:t>Если использовать сервер+</a:t>
            </a:r>
            <a:r>
              <a:rPr lang="en-US" sz="2800" dirty="0">
                <a:latin typeface="Montserrat" panose="00000500000000000000" pitchFamily="2" charset="-52"/>
              </a:rPr>
              <a:t>JBOD: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Montserrat" panose="00000500000000000000" pitchFamily="2" charset="-52"/>
              </a:rPr>
              <a:t>Диски привязаны к 1 серверу</a:t>
            </a:r>
          </a:p>
          <a:p>
            <a:pPr marL="457200" indent="-457200">
              <a:buAutoNum type="arabicPeriod"/>
            </a:pPr>
            <a:r>
              <a:rPr lang="ru-RU" sz="2800" dirty="0">
                <a:latin typeface="Montserrat" panose="00000500000000000000" pitchFamily="2" charset="-52"/>
              </a:rPr>
              <a:t>Управление хранилищем обязанность сервера</a:t>
            </a:r>
          </a:p>
          <a:p>
            <a:pPr marL="457200" indent="-457200">
              <a:buAutoNum type="arabicPeriod"/>
            </a:pPr>
            <a:r>
              <a:rPr lang="ru-RU" sz="2800" dirty="0">
                <a:latin typeface="Montserrat" panose="00000500000000000000" pitchFamily="2" charset="-52"/>
              </a:rPr>
              <a:t>В случае виртуализации, ВМ привязаны  к 1му хосту</a:t>
            </a:r>
          </a:p>
          <a:p>
            <a:r>
              <a:rPr lang="ru-RU" sz="2800" dirty="0">
                <a:latin typeface="Montserrat" panose="00000500000000000000" pitchFamily="2" charset="-52"/>
              </a:rPr>
              <a:t>Если юзать СХД: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Montserrat" panose="00000500000000000000" pitchFamily="2" charset="-52"/>
              </a:rPr>
              <a:t>Хранилище – самостоятельный сервис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Montserrat" panose="00000500000000000000" pitchFamily="2" charset="-52"/>
              </a:rPr>
              <a:t>Данные доступны нескольким серверам</a:t>
            </a:r>
          </a:p>
          <a:p>
            <a:pPr marL="514350" indent="-514350">
              <a:buAutoNum type="arabicPeriod"/>
            </a:pPr>
            <a:r>
              <a:rPr lang="ru-RU" sz="2800" dirty="0">
                <a:latin typeface="Montserrat" panose="00000500000000000000" pitchFamily="2" charset="-52"/>
              </a:rPr>
              <a:t>Контроллеры, </a:t>
            </a:r>
            <a:r>
              <a:rPr lang="en-US" sz="2800" dirty="0">
                <a:latin typeface="Montserrat" panose="00000500000000000000" pitchFamily="2" charset="-52"/>
              </a:rPr>
              <a:t>RAID - </a:t>
            </a:r>
            <a:r>
              <a:rPr lang="ru-RU" sz="2800" dirty="0">
                <a:latin typeface="Montserrat" panose="00000500000000000000" pitchFamily="2" charset="-52"/>
              </a:rPr>
              <a:t>выделены</a:t>
            </a:r>
          </a:p>
        </p:txBody>
      </p:sp>
    </p:spTree>
    <p:extLst>
      <p:ext uri="{BB962C8B-B14F-4D97-AF65-F5344CB8AC3E}">
        <p14:creationId xmlns:p14="http://schemas.microsoft.com/office/powerpoint/2010/main" val="21577406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D3BD9-5DFF-8813-8D93-CDB027A2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9875D95-2B18-4FB6-07B9-64884D6008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54DA404-C0D4-3871-3FB3-50601CDBA0F8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</a:t>
            </a:r>
            <a:r>
              <a:rPr lang="ru-RU" sz="3600" dirty="0" err="1">
                <a:latin typeface="Montserrat" panose="00000500000000000000" pitchFamily="2" charset="-52"/>
              </a:rPr>
              <a:t>бэкплейн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72364D-D685-CE51-B426-489F1CD3E63F}"/>
              </a:ext>
            </a:extLst>
          </p:cNvPr>
          <p:cNvSpPr txBox="1"/>
          <p:nvPr/>
        </p:nvSpPr>
        <p:spPr>
          <a:xfrm>
            <a:off x="194979" y="537881"/>
            <a:ext cx="118020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Montserrat" panose="00000500000000000000" pitchFamily="2" charset="-52"/>
              </a:rPr>
              <a:t>Бэкплейн</a:t>
            </a:r>
            <a:r>
              <a:rPr lang="ru-RU" sz="2400" dirty="0">
                <a:latin typeface="Montserrat" panose="00000500000000000000" pitchFamily="2" charset="-52"/>
              </a:rPr>
              <a:t> — это специализированная печатная плата с множеством разъёмов, которая служит физическим интерфейсом и коммутатором для подключения накопителей (HDD, SSD) внутри корпуса сервера, рабочей станции или дисковой полки (JBOD).</a:t>
            </a:r>
          </a:p>
          <a:p>
            <a:pPr algn="just"/>
            <a:endParaRPr lang="ru-RU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Его основная задача — заменить собой паутину из отдельных кабелей "данные + питание" для каждого диска, обеспечив аккуратное, надёжное и обслуживаемое соединение.</a:t>
            </a:r>
            <a:endParaRPr lang="en-US" sz="2000" dirty="0">
              <a:latin typeface="Montserrat" panose="00000500000000000000" pitchFamily="2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89B3F22-5357-E4A0-189E-00BF169375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043" b="38205"/>
          <a:stretch>
            <a:fillRect/>
          </a:stretch>
        </p:blipFill>
        <p:spPr>
          <a:xfrm>
            <a:off x="98611" y="3584869"/>
            <a:ext cx="7162800" cy="126402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9FAAC7E-C904-8FAA-E3E3-D1A07CCE1D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779" y="3325873"/>
            <a:ext cx="4534180" cy="3046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817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680D7-1CF2-8A70-2769-38D105441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549DD69-0770-6FF0-4FA9-ABC240FD9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BEFD9EB-B7EA-8BAB-68EF-34D688AA1185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</a:t>
            </a:r>
            <a:r>
              <a:rPr lang="ru-RU" sz="3600" dirty="0" err="1">
                <a:latin typeface="Montserrat" panose="00000500000000000000" pitchFamily="2" charset="-52"/>
              </a:rPr>
              <a:t>бэкплейн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94297C-9379-5FD4-0A65-CC2E7A13F5DC}"/>
              </a:ext>
            </a:extLst>
          </p:cNvPr>
          <p:cNvSpPr txBox="1"/>
          <p:nvPr/>
        </p:nvSpPr>
        <p:spPr>
          <a:xfrm>
            <a:off x="194979" y="537881"/>
            <a:ext cx="1180203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Подключение идет через </a:t>
            </a:r>
            <a:r>
              <a:rPr lang="en-US" sz="2400" dirty="0">
                <a:latin typeface="Montserrat" panose="00000500000000000000" pitchFamily="2" charset="-52"/>
              </a:rPr>
              <a:t>mini-SAS </a:t>
            </a:r>
            <a:r>
              <a:rPr lang="ru-RU" sz="2400" dirty="0">
                <a:latin typeface="Montserrat" panose="00000500000000000000" pitchFamily="2" charset="-52"/>
              </a:rPr>
              <a:t>к </a:t>
            </a:r>
            <a:r>
              <a:rPr lang="en-US" sz="2400" dirty="0">
                <a:latin typeface="Montserrat" panose="00000500000000000000" pitchFamily="2" charset="-52"/>
              </a:rPr>
              <a:t>RAID/HBA </a:t>
            </a:r>
            <a:r>
              <a:rPr lang="ru-RU" sz="2400" dirty="0">
                <a:latin typeface="Montserrat" panose="00000500000000000000" pitchFamily="2" charset="-52"/>
              </a:rPr>
              <a:t>контроллеру</a:t>
            </a:r>
          </a:p>
          <a:p>
            <a:pPr algn="just"/>
            <a:endParaRPr lang="ru-RU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Типы </a:t>
            </a:r>
            <a:r>
              <a:rPr lang="ru-RU" sz="2800" dirty="0" err="1">
                <a:latin typeface="Montserrat" panose="00000500000000000000" pitchFamily="2" charset="-52"/>
              </a:rPr>
              <a:t>бэкплейнов</a:t>
            </a:r>
            <a:r>
              <a:rPr lang="ru-RU" sz="2800" dirty="0">
                <a:latin typeface="Montserrat" panose="00000500000000000000" pitchFamily="2" charset="-52"/>
              </a:rPr>
              <a:t>: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Пассивный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Просто механически объединяет разъёмы дисков и порты контроллера.    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Не содержит активных электронных компонентов для обработки сигналов.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2. Активный, с экспандером: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Требуется отдельное питание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Позволяет подключить </a:t>
            </a:r>
            <a:r>
              <a:rPr lang="ru-RU" sz="2400" dirty="0" err="1">
                <a:latin typeface="Montserrat" panose="00000500000000000000" pitchFamily="2" charset="-52"/>
              </a:rPr>
              <a:t>бОльшее</a:t>
            </a:r>
            <a:r>
              <a:rPr lang="ru-RU" sz="2400" dirty="0">
                <a:latin typeface="Montserrat" panose="00000500000000000000" pitchFamily="2" charset="-52"/>
              </a:rPr>
              <a:t> количество дисков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Распределение соединения</a:t>
            </a:r>
            <a:endParaRPr lang="en-US" sz="24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674544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312EF-D214-4614-EDE8-4610B910D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D225B62-8B56-BAA8-ED0E-CCBD644333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CCE2D57E-72DA-2DBC-545D-A1F645B330FB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</a:t>
            </a:r>
            <a:r>
              <a:rPr lang="ru-RU" sz="3600" dirty="0" err="1">
                <a:latin typeface="Montserrat" panose="00000500000000000000" pitchFamily="2" charset="-52"/>
              </a:rPr>
              <a:t>бэкплейн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A8D59-B006-02DD-1539-66AEDF5DE827}"/>
              </a:ext>
            </a:extLst>
          </p:cNvPr>
          <p:cNvSpPr txBox="1"/>
          <p:nvPr/>
        </p:nvSpPr>
        <p:spPr>
          <a:xfrm>
            <a:off x="194979" y="399943"/>
            <a:ext cx="1180203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SAS-экспандер — это специализированная микросхема (или набор микросхем) на </a:t>
            </a:r>
            <a:r>
              <a:rPr lang="ru-RU" sz="2400" dirty="0" err="1">
                <a:latin typeface="Montserrat" panose="00000500000000000000" pitchFamily="2" charset="-52"/>
              </a:rPr>
              <a:t>backplane</a:t>
            </a:r>
            <a:r>
              <a:rPr lang="ru-RU" sz="2400" dirty="0">
                <a:latin typeface="Montserrat" panose="00000500000000000000" pitchFamily="2" charset="-52"/>
              </a:rPr>
              <a:t>, которая выполняет роль коммутатора SAS-линий </a:t>
            </a:r>
            <a:r>
              <a:rPr lang="ru-RU" sz="2400" dirty="0" err="1">
                <a:latin typeface="Montserrat" panose="00000500000000000000" pitchFamily="2" charset="-52"/>
              </a:rPr>
              <a:t>между:контроллером</a:t>
            </a:r>
            <a:r>
              <a:rPr lang="ru-RU" sz="2400" dirty="0">
                <a:latin typeface="Montserrat" panose="00000500000000000000" pitchFamily="2" charset="-52"/>
              </a:rPr>
              <a:t> (HBA или RAID), и множеством дисков (SAS и/или SATA).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Экспандер позволяет: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подключить десятки или сотни дисков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к небольшому числу портов контроллера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без потери адресации и управляемости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Плюсы экспандера: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Экономия на контроллерах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Расширение макс. кол-ва дисков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Минусы экспандера: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Еще одна точка отказа</a:t>
            </a:r>
          </a:p>
          <a:p>
            <a:pPr marL="342900" indent="-342900" algn="just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Пропускная способность делится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0518D4-DB45-A234-54E1-ADBD568BF3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702" t="8396" r="1748"/>
          <a:stretch>
            <a:fillRect/>
          </a:stretch>
        </p:blipFill>
        <p:spPr>
          <a:xfrm>
            <a:off x="7093325" y="3782092"/>
            <a:ext cx="4993337" cy="2873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1024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17114-1E20-1448-618C-F1D25FB7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6744FAA-AEA1-903B-904B-7318AE76AC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7D667A7-FA68-0A3A-F404-4FE8F298A7CD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</a:t>
            </a:r>
            <a:r>
              <a:rPr lang="en-US" sz="3600" dirty="0">
                <a:latin typeface="Montserrat" panose="00000500000000000000" pitchFamily="2" charset="-52"/>
              </a:rPr>
              <a:t>HBA-</a:t>
            </a:r>
            <a:r>
              <a:rPr lang="ru-RU" sz="3600" dirty="0">
                <a:latin typeface="Montserrat" panose="00000500000000000000" pitchFamily="2" charset="-52"/>
              </a:rPr>
              <a:t>контроллер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53E9C-6F40-0C7F-405A-9462B80B7C47}"/>
              </a:ext>
            </a:extLst>
          </p:cNvPr>
          <p:cNvSpPr txBox="1"/>
          <p:nvPr/>
        </p:nvSpPr>
        <p:spPr>
          <a:xfrm>
            <a:off x="194979" y="537881"/>
            <a:ext cx="118020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HBA (Host </a:t>
            </a:r>
            <a:r>
              <a:rPr lang="ru-RU" sz="2400" dirty="0" err="1">
                <a:latin typeface="Montserrat" panose="00000500000000000000" pitchFamily="2" charset="-52"/>
              </a:rPr>
              <a:t>Bus</a:t>
            </a:r>
            <a:r>
              <a:rPr lang="ru-RU" sz="2400" dirty="0">
                <a:latin typeface="Montserrat" panose="00000500000000000000" pitchFamily="2" charset="-52"/>
              </a:rPr>
              <a:t> </a:t>
            </a:r>
            <a:r>
              <a:rPr lang="ru-RU" sz="2400" dirty="0" err="1">
                <a:latin typeface="Montserrat" panose="00000500000000000000" pitchFamily="2" charset="-52"/>
              </a:rPr>
              <a:t>Adapter</a:t>
            </a:r>
            <a:r>
              <a:rPr lang="ru-RU" sz="2400" dirty="0">
                <a:latin typeface="Montserrat" panose="00000500000000000000" pitchFamily="2" charset="-52"/>
              </a:rPr>
              <a:t>) — разновидность дискового контроллера, обеспечивающая видимость каждого накопителя в отдельности.</a:t>
            </a:r>
            <a:endParaRPr lang="en-US" sz="2000" dirty="0">
              <a:latin typeface="Montserrat" panose="00000500000000000000" pitchFamily="2" charset="-52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75EADE-ACA4-C68C-B326-75DECBF85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982" y="1515034"/>
            <a:ext cx="4451297" cy="333847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DB3F82-5235-A719-BC75-4CCC0F55E457}"/>
              </a:ext>
            </a:extLst>
          </p:cNvPr>
          <p:cNvSpPr txBox="1"/>
          <p:nvPr/>
        </p:nvSpPr>
        <p:spPr>
          <a:xfrm>
            <a:off x="194979" y="2749443"/>
            <a:ext cx="72790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Дисковые контроллеры могут поддерживать одновременную работу с разными типами накопителей за счет реализации нескольких протоколов.</a:t>
            </a:r>
            <a:endParaRPr lang="en-US" sz="20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2365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7D28A-203A-7248-D20C-F0E32497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D3EB6AF-B003-342B-B4B1-76F98A559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C2835C1-2CF8-B3AD-1AE6-902D7F14680A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</a:t>
            </a:r>
            <a:r>
              <a:rPr lang="en-US" sz="3600" dirty="0">
                <a:latin typeface="Montserrat" panose="00000500000000000000" pitchFamily="2" charset="-52"/>
              </a:rPr>
              <a:t>RAID-</a:t>
            </a:r>
            <a:r>
              <a:rPr lang="ru-RU" sz="3600" dirty="0">
                <a:latin typeface="Montserrat" panose="00000500000000000000" pitchFamily="2" charset="-52"/>
              </a:rPr>
              <a:t>контроллер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A5B3B3-BD53-6D10-77D8-20AB40EE64BA}"/>
              </a:ext>
            </a:extLst>
          </p:cNvPr>
          <p:cNvSpPr txBox="1"/>
          <p:nvPr/>
        </p:nvSpPr>
        <p:spPr>
          <a:xfrm>
            <a:off x="194979" y="367552"/>
            <a:ext cx="11802036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200" dirty="0">
                <a:latin typeface="Montserrat" panose="00000500000000000000" pitchFamily="2" charset="-52"/>
              </a:rPr>
              <a:t>RAID-контроллер — это устройство</a:t>
            </a:r>
            <a:r>
              <a:rPr lang="en-US" sz="2200" dirty="0">
                <a:latin typeface="Montserrat" panose="00000500000000000000" pitchFamily="2" charset="-52"/>
              </a:rPr>
              <a:t>/</a:t>
            </a:r>
            <a:r>
              <a:rPr lang="ru-RU" sz="2200" dirty="0">
                <a:latin typeface="Montserrat" panose="00000500000000000000" pitchFamily="2" charset="-52"/>
              </a:rPr>
              <a:t>решение, объединяющее несколько физических дисков в единый логический массив. Оно управляет хранением данных для повышения производительности, надежности (защиты от потери данных при выходе дисков из строя) и увеличения общего объема памяти сервера или рабочей станции.</a:t>
            </a:r>
            <a:endParaRPr lang="en-US" sz="2200" dirty="0">
              <a:latin typeface="Montserrat" panose="00000500000000000000" pitchFamily="2" charset="-52"/>
            </a:endParaRPr>
          </a:p>
          <a:p>
            <a:pPr algn="just"/>
            <a:r>
              <a:rPr lang="ru-RU" sz="2200" u="sng" dirty="0">
                <a:latin typeface="Montserrat" panose="00000500000000000000" pitchFamily="2" charset="-52"/>
              </a:rPr>
              <a:t>Способы реализации:</a:t>
            </a:r>
          </a:p>
          <a:p>
            <a:pPr marL="457200" indent="-457200" algn="just">
              <a:buAutoNum type="arabicPeriod"/>
            </a:pPr>
            <a:r>
              <a:rPr lang="ru-RU" sz="2200" dirty="0">
                <a:latin typeface="Montserrat" panose="00000500000000000000" pitchFamily="2" charset="-52"/>
              </a:rPr>
              <a:t>Программные</a:t>
            </a:r>
          </a:p>
          <a:p>
            <a:pPr marL="457200" indent="-457200" algn="just">
              <a:buAutoNum type="arabicPeriod"/>
            </a:pPr>
            <a:r>
              <a:rPr lang="ru-RU" sz="2200" dirty="0">
                <a:latin typeface="Montserrat" panose="00000500000000000000" pitchFamily="2" charset="-52"/>
              </a:rPr>
              <a:t>Интегрированные, чип в </a:t>
            </a:r>
            <a:r>
              <a:rPr lang="ru-RU" sz="2200" dirty="0" err="1">
                <a:latin typeface="Montserrat" panose="00000500000000000000" pitchFamily="2" charset="-52"/>
              </a:rPr>
              <a:t>мат.плате</a:t>
            </a:r>
            <a:endParaRPr lang="ru-RU" sz="2200" dirty="0">
              <a:latin typeface="Montserrat" panose="00000500000000000000" pitchFamily="2" charset="-52"/>
            </a:endParaRPr>
          </a:p>
          <a:p>
            <a:pPr marL="457200" indent="-457200" algn="just">
              <a:buAutoNum type="arabicPeriod"/>
            </a:pPr>
            <a:r>
              <a:rPr lang="ru-RU" sz="2200" dirty="0">
                <a:latin typeface="Montserrat" panose="00000500000000000000" pitchFamily="2" charset="-52"/>
              </a:rPr>
              <a:t>Аппаратный</a:t>
            </a:r>
            <a:endParaRPr lang="en-US" sz="2200" dirty="0">
              <a:latin typeface="Montserrat" panose="00000500000000000000" pitchFamily="2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4EED67-CD2B-E5AB-05A3-2CB5530B01C0}"/>
              </a:ext>
            </a:extLst>
          </p:cNvPr>
          <p:cNvSpPr txBox="1"/>
          <p:nvPr/>
        </p:nvSpPr>
        <p:spPr>
          <a:xfrm>
            <a:off x="4995580" y="1668203"/>
            <a:ext cx="70014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Виды:</a:t>
            </a:r>
          </a:p>
          <a:p>
            <a:pPr marL="457200" marR="0" lvl="0" indent="-45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Внутренние</a:t>
            </a:r>
          </a:p>
          <a:p>
            <a:pPr marL="457200" marR="0" lvl="0" indent="-45720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-52"/>
                <a:ea typeface="+mn-ea"/>
                <a:cs typeface="+mn-cs"/>
              </a:rPr>
              <a:t>Внешние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0000500000000000000" pitchFamily="2" charset="-52"/>
              <a:ea typeface="+mn-ea"/>
              <a:cs typeface="+mn-cs"/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F99586F-383D-4B0F-25F2-5E8C10D0C8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754" y="3118658"/>
            <a:ext cx="5723986" cy="362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928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86A98-C9A1-9174-1B90-281F99CEC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4066D76-8B9C-63D3-A3B2-4DBF0797EE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1A313FB-C5BE-44DF-64CC-14B8F30FDA65}"/>
              </a:ext>
            </a:extLst>
          </p:cNvPr>
          <p:cNvSpPr txBox="1">
            <a:spLocks/>
          </p:cNvSpPr>
          <p:nvPr/>
        </p:nvSpPr>
        <p:spPr>
          <a:xfrm>
            <a:off x="506502" y="0"/>
            <a:ext cx="11178988" cy="950259"/>
          </a:xfrm>
          <a:prstGeom prst="rect">
            <a:avLst/>
          </a:prstGeo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технологии для достижения отказоустойчивости, скорости работы, безопасности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CB8E3B-F345-C8FE-E5CC-844DAB5DC617}"/>
              </a:ext>
            </a:extLst>
          </p:cNvPr>
          <p:cNvSpPr txBox="1"/>
          <p:nvPr/>
        </p:nvSpPr>
        <p:spPr>
          <a:xfrm>
            <a:off x="98612" y="726140"/>
            <a:ext cx="1180203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Отказоустойчивость: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Montserrat" panose="00000500000000000000" pitchFamily="2" charset="-52"/>
              </a:rPr>
              <a:t>RAID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Репликация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Бэкап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Использование </a:t>
            </a:r>
            <a:r>
              <a:rPr lang="ru-RU" sz="2400" dirty="0" err="1">
                <a:latin typeface="Montserrat" panose="00000500000000000000" pitchFamily="2" charset="-52"/>
              </a:rPr>
              <a:t>двухконтроллерной</a:t>
            </a:r>
            <a:r>
              <a:rPr lang="ru-RU" sz="2400" dirty="0">
                <a:latin typeface="Montserrat" panose="00000500000000000000" pitchFamily="2" charset="-52"/>
              </a:rPr>
              <a:t> архитектуры</a:t>
            </a:r>
            <a:endParaRPr lang="en-US" sz="2400" dirty="0">
              <a:latin typeface="Montserrat" panose="00000500000000000000" pitchFamily="2" charset="-52"/>
            </a:endParaRP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Скорость работы: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Использование </a:t>
            </a:r>
            <a:r>
              <a:rPr lang="en-US" sz="2400" dirty="0">
                <a:latin typeface="Montserrat" panose="00000500000000000000" pitchFamily="2" charset="-52"/>
              </a:rPr>
              <a:t>SSD </a:t>
            </a:r>
            <a:r>
              <a:rPr lang="en-US" sz="2400" dirty="0" err="1">
                <a:latin typeface="Montserrat" panose="00000500000000000000" pitchFamily="2" charset="-52"/>
              </a:rPr>
              <a:t>NVMe</a:t>
            </a:r>
            <a:r>
              <a:rPr lang="en-US" sz="2400" dirty="0">
                <a:latin typeface="Montserrat" panose="00000500000000000000" pitchFamily="2" charset="-52"/>
              </a:rPr>
              <a:t>, </a:t>
            </a:r>
            <a:r>
              <a:rPr lang="ru-RU" sz="2400" dirty="0">
                <a:latin typeface="Montserrat" panose="00000500000000000000" pitchFamily="2" charset="-52"/>
              </a:rPr>
              <a:t>высокоскоростных сетей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Автоматический </a:t>
            </a:r>
            <a:r>
              <a:rPr lang="ru-RU" sz="2400" dirty="0" err="1">
                <a:latin typeface="Montserrat" panose="00000500000000000000" pitchFamily="2" charset="-52"/>
              </a:rPr>
              <a:t>тиринг</a:t>
            </a:r>
            <a:r>
              <a:rPr lang="ru-RU" sz="2400" dirty="0">
                <a:latin typeface="Montserrat" panose="00000500000000000000" pitchFamily="2" charset="-52"/>
              </a:rPr>
              <a:t> – перемещение данных между разными носителями</a:t>
            </a:r>
          </a:p>
          <a:p>
            <a:pPr marL="457200" indent="-457200" algn="just">
              <a:buAutoNum type="arabicPeriod"/>
            </a:pPr>
            <a:r>
              <a:rPr lang="en-US" sz="2400" dirty="0">
                <a:latin typeface="Montserrat" panose="00000500000000000000" pitchFamily="2" charset="-52"/>
              </a:rPr>
              <a:t>Kernel Bypass </a:t>
            </a:r>
            <a:r>
              <a:rPr lang="ru-RU" sz="2400" dirty="0">
                <a:latin typeface="Montserrat" panose="00000500000000000000" pitchFamily="2" charset="-52"/>
              </a:rPr>
              <a:t>– передача данных минуя процессор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Безопасность: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Шифрование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Неизменяемость данных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Физическая изоляция</a:t>
            </a:r>
            <a:r>
              <a:rPr lang="en-US" sz="2400" dirty="0">
                <a:latin typeface="Montserrat" panose="00000500000000000000" pitchFamily="2" charset="-52"/>
              </a:rPr>
              <a:t> </a:t>
            </a:r>
            <a:endParaRPr lang="en-US" sz="20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775685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92CDF-C991-6E1D-6A99-F1DEA083B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8303AFD-DD5E-FF8A-2D40-2759116789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54A6A51-1537-0B02-A128-C09CD04A0BFE}"/>
              </a:ext>
            </a:extLst>
          </p:cNvPr>
          <p:cNvSpPr txBox="1">
            <a:spLocks/>
          </p:cNvSpPr>
          <p:nvPr/>
        </p:nvSpPr>
        <p:spPr>
          <a:xfrm>
            <a:off x="506502" y="0"/>
            <a:ext cx="11178988" cy="9502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</a:t>
            </a:r>
            <a:r>
              <a:rPr lang="en-US" sz="3600" dirty="0">
                <a:latin typeface="Montserrat" panose="00000500000000000000" pitchFamily="2" charset="-52"/>
              </a:rPr>
              <a:t>RAID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D02FD-59A1-61FE-0065-C040188E9AE2}"/>
              </a:ext>
            </a:extLst>
          </p:cNvPr>
          <p:cNvSpPr txBox="1"/>
          <p:nvPr/>
        </p:nvSpPr>
        <p:spPr>
          <a:xfrm>
            <a:off x="116541" y="475129"/>
            <a:ext cx="118020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RAID (</a:t>
            </a:r>
            <a:r>
              <a:rPr lang="ru-RU" sz="2400" dirty="0" err="1">
                <a:latin typeface="Montserrat" panose="00000500000000000000" pitchFamily="2" charset="-52"/>
              </a:rPr>
              <a:t>Redundant</a:t>
            </a:r>
            <a:r>
              <a:rPr lang="ru-RU" sz="2400" dirty="0">
                <a:latin typeface="Montserrat" panose="00000500000000000000" pitchFamily="2" charset="-52"/>
              </a:rPr>
              <a:t> </a:t>
            </a:r>
            <a:r>
              <a:rPr lang="ru-RU" sz="2400" dirty="0" err="1">
                <a:latin typeface="Montserrat" panose="00000500000000000000" pitchFamily="2" charset="-52"/>
              </a:rPr>
              <a:t>Array</a:t>
            </a:r>
            <a:r>
              <a:rPr lang="ru-RU" sz="2400" dirty="0">
                <a:latin typeface="Montserrat" panose="00000500000000000000" pitchFamily="2" charset="-52"/>
              </a:rPr>
              <a:t> </a:t>
            </a:r>
            <a:r>
              <a:rPr lang="ru-RU" sz="2400" dirty="0" err="1">
                <a:latin typeface="Montserrat" panose="00000500000000000000" pitchFamily="2" charset="-52"/>
              </a:rPr>
              <a:t>of</a:t>
            </a:r>
            <a:r>
              <a:rPr lang="ru-RU" sz="2400" dirty="0">
                <a:latin typeface="Montserrat" panose="00000500000000000000" pitchFamily="2" charset="-52"/>
              </a:rPr>
              <a:t> Independent </a:t>
            </a:r>
            <a:r>
              <a:rPr lang="ru-RU" sz="2400" dirty="0" err="1">
                <a:latin typeface="Montserrat" panose="00000500000000000000" pitchFamily="2" charset="-52"/>
              </a:rPr>
              <a:t>Disks</a:t>
            </a:r>
            <a:r>
              <a:rPr lang="ru-RU" sz="2400" dirty="0">
                <a:latin typeface="Montserrat" panose="00000500000000000000" pitchFamily="2" charset="-52"/>
              </a:rPr>
              <a:t> — избыточный массив самостоятельных дисков) — это технология объединения двух и более накопителей в единый логический элемент с целью повышения производительности и (или) отказоустойчивости отдельно взятого элемента массива.</a:t>
            </a:r>
            <a:r>
              <a:rPr lang="en-US" sz="2400" dirty="0">
                <a:latin typeface="Montserrat" panose="00000500000000000000" pitchFamily="2" charset="-52"/>
              </a:rPr>
              <a:t> 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Методы </a:t>
            </a:r>
            <a:r>
              <a:rPr lang="en-US" sz="2400" dirty="0">
                <a:latin typeface="Montserrat" panose="00000500000000000000" pitchFamily="2" charset="-52"/>
              </a:rPr>
              <a:t>RAID: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Чередование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Зеркалирование</a:t>
            </a:r>
          </a:p>
          <a:p>
            <a:pPr marL="457200" indent="-457200" algn="just">
              <a:buAutoNum type="arabicPeriod"/>
            </a:pPr>
            <a:r>
              <a:rPr lang="ru-RU" sz="2400" dirty="0">
                <a:latin typeface="Montserrat" panose="00000500000000000000" pitchFamily="2" charset="-52"/>
              </a:rPr>
              <a:t>Контроль четности </a:t>
            </a:r>
            <a:endParaRPr lang="en-US" sz="2400" dirty="0">
              <a:latin typeface="Montserrat" panose="00000500000000000000" pitchFamily="2" charset="-52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2B669A6-633C-AC46-60D4-3643FF2E9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5781" y="2183289"/>
            <a:ext cx="7162796" cy="4450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6595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E3725-A7F0-40FB-969C-851D947D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0D3AA03-43A6-1799-7DEC-F27FF4EAF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90154DF9-9871-24F0-9BD0-0D34F100CBE9}"/>
              </a:ext>
            </a:extLst>
          </p:cNvPr>
          <p:cNvSpPr txBox="1">
            <a:spLocks/>
          </p:cNvSpPr>
          <p:nvPr/>
        </p:nvSpPr>
        <p:spPr>
          <a:xfrm>
            <a:off x="506502" y="0"/>
            <a:ext cx="11178988" cy="9502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Репликация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BDB98-67D2-0FF6-3CD4-939046C10E22}"/>
              </a:ext>
            </a:extLst>
          </p:cNvPr>
          <p:cNvSpPr txBox="1"/>
          <p:nvPr/>
        </p:nvSpPr>
        <p:spPr>
          <a:xfrm>
            <a:off x="116541" y="475129"/>
            <a:ext cx="11802036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Репликация — это процесс синхронизации данных между несколькими копиями одной базы данных или виртуальной машины, которые могут находиться на разных серверах. Ключевая особенность: копия (реплика) поддерживается в актуальном состоянии практически в реальном времени. Если основной сервер выходит из строя, система может быстро переключиться на реплику, тем самым минимизируется простой и потеря данных.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Плюсы: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- Почти мгновенное восстановление работоспособности при сбое основного узла.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- Актуальность данных в репликах.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Минусы репликации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- Не защищает от программных сбоев: если данные на основном сервере были </a:t>
            </a:r>
            <a:r>
              <a:rPr lang="ru-RU" sz="2400" dirty="0" err="1">
                <a:latin typeface="Montserrat" panose="00000500000000000000" pitchFamily="2" charset="-52"/>
              </a:rPr>
              <a:t>поврежденыповреждения</a:t>
            </a:r>
            <a:r>
              <a:rPr lang="ru-RU" sz="2400" dirty="0">
                <a:latin typeface="Montserrat" panose="00000500000000000000" pitchFamily="2" charset="-52"/>
              </a:rPr>
              <a:t> быстро распространятся и на реплику.</a:t>
            </a:r>
          </a:p>
          <a:p>
            <a:pPr algn="just"/>
            <a:r>
              <a:rPr lang="ru-RU" sz="2400" dirty="0">
                <a:latin typeface="Montserrat" panose="00000500000000000000" pitchFamily="2" charset="-52"/>
              </a:rPr>
              <a:t> - Более высокая стоимость внедрения и сопровождения по сравнению с резервным копированием.</a:t>
            </a:r>
            <a:endParaRPr lang="en-US" sz="24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114707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6E97A-D38D-A1B9-5577-EA0661864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DEE3557-4B22-1677-DF97-72D38F6791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C2C863E-219D-003D-93C1-F2DEB15C34B0}"/>
              </a:ext>
            </a:extLst>
          </p:cNvPr>
          <p:cNvSpPr txBox="1">
            <a:spLocks/>
          </p:cNvSpPr>
          <p:nvPr/>
        </p:nvSpPr>
        <p:spPr>
          <a:xfrm>
            <a:off x="506502" y="0"/>
            <a:ext cx="11178988" cy="9502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Бэкап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74586B-1981-38BD-C3BD-B09A31691B81}"/>
              </a:ext>
            </a:extLst>
          </p:cNvPr>
          <p:cNvSpPr txBox="1"/>
          <p:nvPr/>
        </p:nvSpPr>
        <p:spPr>
          <a:xfrm>
            <a:off x="116541" y="475129"/>
            <a:ext cx="1180203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>
                <a:latin typeface="Montserrat" panose="00000500000000000000" pitchFamily="2" charset="-52"/>
              </a:rPr>
              <a:t>Бэкап (резервное копирование) — это создание отдельной копии данных на локальном или удаленном носителе, предназначенной для восстановления в случае потери, повреждения или уничтожения оригинала. В отличие от репликации, бэкап не синхронизируется в реальном времени: копия делается по расписанию или при необходимости вручную.</a:t>
            </a:r>
            <a:endParaRPr lang="en-US" sz="2400" dirty="0">
              <a:latin typeface="Montserrat" panose="00000500000000000000" pitchFamily="2" charset="-5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149E14-185A-E780-447E-9AF8531ED288}"/>
              </a:ext>
            </a:extLst>
          </p:cNvPr>
          <p:cNvSpPr txBox="1"/>
          <p:nvPr/>
        </p:nvSpPr>
        <p:spPr>
          <a:xfrm>
            <a:off x="116541" y="2783453"/>
            <a:ext cx="1191857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Montserrat" panose="00000500000000000000" pitchFamily="2" charset="-52"/>
              </a:rPr>
              <a:t>Плюсы бэкапа</a:t>
            </a:r>
          </a:p>
          <a:p>
            <a:r>
              <a:rPr lang="ru-RU" sz="2400" dirty="0">
                <a:latin typeface="Montserrat" panose="00000500000000000000" pitchFamily="2" charset="-52"/>
              </a:rPr>
              <a:t>- Защищает данные от программных сбоев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Копии обычно хранятся изолированно</a:t>
            </a:r>
          </a:p>
          <a:p>
            <a:pPr marL="342900" indent="-342900">
              <a:buFontTx/>
              <a:buChar char="-"/>
            </a:pPr>
            <a:r>
              <a:rPr lang="ru-RU" sz="2400" dirty="0">
                <a:latin typeface="Montserrat" panose="00000500000000000000" pitchFamily="2" charset="-52"/>
              </a:rPr>
              <a:t>Стоимость реализации ниже, чем у репликации.</a:t>
            </a:r>
          </a:p>
          <a:p>
            <a:r>
              <a:rPr lang="ru-RU" sz="2400" dirty="0">
                <a:latin typeface="Montserrat" panose="00000500000000000000" pitchFamily="2" charset="-52"/>
              </a:rPr>
              <a:t>Минусы бэкапа</a:t>
            </a:r>
          </a:p>
          <a:p>
            <a:r>
              <a:rPr lang="ru-RU" sz="2400" dirty="0">
                <a:latin typeface="Montserrat" panose="00000500000000000000" pitchFamily="2" charset="-52"/>
              </a:rPr>
              <a:t>- Восстановление из резервной копии занимает больше времени, чем переключение на реплику.</a:t>
            </a:r>
          </a:p>
          <a:p>
            <a:r>
              <a:rPr lang="ru-RU" sz="2400" dirty="0">
                <a:latin typeface="Montserrat" panose="00000500000000000000" pitchFamily="2" charset="-52"/>
              </a:rPr>
              <a:t>- Актуальность данных зависит от частоты создания бэкапов</a:t>
            </a:r>
          </a:p>
        </p:txBody>
      </p:sp>
    </p:spTree>
    <p:extLst>
      <p:ext uri="{BB962C8B-B14F-4D97-AF65-F5344CB8AC3E}">
        <p14:creationId xmlns:p14="http://schemas.microsoft.com/office/powerpoint/2010/main" val="22302833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71CE3-FC4F-BE5E-29F4-C29F99BC5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A722232-62CC-629D-6355-BC99D34D4B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0294D87-3838-2330-1A50-2B763D28D262}"/>
              </a:ext>
            </a:extLst>
          </p:cNvPr>
          <p:cNvSpPr txBox="1">
            <a:spLocks/>
          </p:cNvSpPr>
          <p:nvPr/>
        </p:nvSpPr>
        <p:spPr>
          <a:xfrm>
            <a:off x="506502" y="0"/>
            <a:ext cx="11178988" cy="9502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Бэкап и репликация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7A06F35A-C442-E7F4-A755-5A2E589DFC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2517403"/>
              </p:ext>
            </p:extLst>
          </p:nvPr>
        </p:nvGraphicFramePr>
        <p:xfrm>
          <a:off x="138948" y="576230"/>
          <a:ext cx="119140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1365">
                  <a:extLst>
                    <a:ext uri="{9D8B030D-6E8A-4147-A177-3AD203B41FA5}">
                      <a16:colId xmlns:a16="http://schemas.microsoft.com/office/drawing/2014/main" val="2086831789"/>
                    </a:ext>
                  </a:extLst>
                </a:gridCol>
                <a:gridCol w="3971365">
                  <a:extLst>
                    <a:ext uri="{9D8B030D-6E8A-4147-A177-3AD203B41FA5}">
                      <a16:colId xmlns:a16="http://schemas.microsoft.com/office/drawing/2014/main" val="3211007834"/>
                    </a:ext>
                  </a:extLst>
                </a:gridCol>
                <a:gridCol w="3971365">
                  <a:extLst>
                    <a:ext uri="{9D8B030D-6E8A-4147-A177-3AD203B41FA5}">
                      <a16:colId xmlns:a16="http://schemas.microsoft.com/office/drawing/2014/main" val="350505816"/>
                    </a:ext>
                  </a:extLst>
                </a:gridCol>
              </a:tblGrid>
              <a:tr h="331415">
                <a:tc>
                  <a:txBody>
                    <a:bodyPr/>
                    <a:lstStyle/>
                    <a:p>
                      <a:r>
                        <a:rPr lang="ru-RU" dirty="0"/>
                        <a:t>Характеристика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Репликация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Бэкап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3291477"/>
                  </a:ext>
                </a:extLst>
              </a:tr>
              <a:tr h="331415">
                <a:tc>
                  <a:txBody>
                    <a:bodyPr/>
                    <a:lstStyle/>
                    <a:p>
                      <a:r>
                        <a:rPr lang="ru-RU" dirty="0"/>
                        <a:t>Цель использования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HA, </a:t>
                      </a:r>
                      <a:r>
                        <a:rPr lang="ru-RU" dirty="0"/>
                        <a:t>увеличение производительности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Восстановление данных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796063"/>
                  </a:ext>
                </a:extLst>
              </a:tr>
              <a:tr h="572032">
                <a:tc>
                  <a:txBody>
                    <a:bodyPr/>
                    <a:lstStyle/>
                    <a:p>
                      <a:r>
                        <a:rPr lang="ru-RU" dirty="0"/>
                        <a:t>Принцип работы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процесс синхронизации данных в режиме реального времени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создание статичной копии данных на определенный момент времени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150941"/>
                  </a:ext>
                </a:extLst>
              </a:tr>
              <a:tr h="331415">
                <a:tc>
                  <a:txBody>
                    <a:bodyPr/>
                    <a:lstStyle/>
                    <a:p>
                      <a:r>
                        <a:rPr lang="ru-RU" dirty="0"/>
                        <a:t>Время восстановления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минимальна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Больше чем репликация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9056036"/>
                  </a:ext>
                </a:extLst>
              </a:tr>
              <a:tr h="572032">
                <a:tc>
                  <a:txBody>
                    <a:bodyPr/>
                    <a:lstStyle/>
                    <a:p>
                      <a:r>
                        <a:rPr lang="ru-RU" dirty="0"/>
                        <a:t>Защита от разных сбоев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от физических сбоев оборудования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Физические, программные сбои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733181"/>
                  </a:ext>
                </a:extLst>
              </a:tr>
              <a:tr h="1552659">
                <a:tc>
                  <a:txBody>
                    <a:bodyPr/>
                    <a:lstStyle/>
                    <a:p>
                      <a:r>
                        <a:rPr lang="ru-RU" dirty="0"/>
                        <a:t>Стоимость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требует больше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ресурсов,стоит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дороже, для репликации нужны доп серверы, дисковое </a:t>
                      </a:r>
                      <a:r>
                        <a:rPr lang="ru-RU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пространство,сетевые</a:t>
                      </a:r>
                      <a:r>
                        <a:rPr lang="ru-RU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ресурсы.</a:t>
                      </a:r>
                    </a:p>
                    <a:p>
                      <a:br>
                        <a:rPr lang="ru-RU" dirty="0"/>
                      </a:b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Требует меньше ресурсов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6776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D9B5144-F256-F4F1-98AC-5C4BA6414159}"/>
              </a:ext>
            </a:extLst>
          </p:cNvPr>
          <p:cNvSpPr txBox="1"/>
          <p:nvPr/>
        </p:nvSpPr>
        <p:spPr>
          <a:xfrm>
            <a:off x="138948" y="4881963"/>
            <a:ext cx="11914095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200" b="0" i="0" dirty="0">
                <a:solidFill>
                  <a:srgbClr val="243143"/>
                </a:solidFill>
                <a:effectLst/>
                <a:latin typeface="Montserrat" panose="00000500000000000000" pitchFamily="2" charset="-52"/>
              </a:rPr>
              <a:t>Репликация обеспечивает бизнесу непрерывность и минимальные простои, но не спасает от человеческих ошибок, сбоев ПО или целенаправленного удаления данных. Бэкап позволяет восстановить данные даже в случае заражения вирусом, но операция восстановления может потребовать существенного времени. </a:t>
            </a:r>
            <a:endParaRPr lang="ru-RU" sz="22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6063000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13FA-55E0-5A2E-0E16-80D6A9B4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940C0F30-6F03-EF3E-DC1F-9947A0268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70565441-570F-B657-F073-6743BBDB5D79}"/>
              </a:ext>
            </a:extLst>
          </p:cNvPr>
          <p:cNvSpPr txBox="1">
            <a:spLocks/>
          </p:cNvSpPr>
          <p:nvPr/>
        </p:nvSpPr>
        <p:spPr>
          <a:xfrm>
            <a:off x="506502" y="0"/>
            <a:ext cx="11178988" cy="95025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2х контроллерный режим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B576F9-AC0C-1EBD-ED27-600A998266BC}"/>
              </a:ext>
            </a:extLst>
          </p:cNvPr>
          <p:cNvSpPr txBox="1"/>
          <p:nvPr/>
        </p:nvSpPr>
        <p:spPr>
          <a:xfrm>
            <a:off x="116541" y="475129"/>
            <a:ext cx="118020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400" dirty="0" err="1">
                <a:latin typeface="Montserrat" panose="00000500000000000000" pitchFamily="2" charset="-52"/>
              </a:rPr>
              <a:t>Двухконтроллерный</a:t>
            </a:r>
            <a:r>
              <a:rPr lang="ru-RU" sz="2400" dirty="0">
                <a:latin typeface="Montserrat" panose="00000500000000000000" pitchFamily="2" charset="-52"/>
              </a:rPr>
              <a:t> режим обеспечивает возможность доступа к данным при выходе из строя одного из контроллеров. Отказоустойчивость обеспечивается за счёт дублирования аппаратных компонентов: два контроллера одновременно имеют доступ к единому набору дисков.</a:t>
            </a:r>
          </a:p>
        </p:txBody>
      </p:sp>
      <p:pic>
        <p:nvPicPr>
          <p:cNvPr id="6146" name="Picture 2" descr="Схема двухконтроллерной СХД на базе RAIDIX">
            <a:extLst>
              <a:ext uri="{FF2B5EF4-FFF2-40B4-BE49-F238E27FC236}">
                <a16:creationId xmlns:a16="http://schemas.microsoft.com/office/drawing/2014/main" id="{2C23CC58-3981-EAC0-9EDC-CDDF96F23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365" y="3652122"/>
            <a:ext cx="6423212" cy="3037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3CF50A-9F0B-4355-2C5D-6079051EDC5A}"/>
              </a:ext>
            </a:extLst>
          </p:cNvPr>
          <p:cNvSpPr txBox="1"/>
          <p:nvPr/>
        </p:nvSpPr>
        <p:spPr>
          <a:xfrm>
            <a:off x="116541" y="2414121"/>
            <a:ext cx="510540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000" dirty="0">
                <a:latin typeface="Montserrat" panose="00000500000000000000" pitchFamily="2" charset="-52"/>
              </a:rPr>
              <a:t>Каналы связи:</a:t>
            </a:r>
          </a:p>
          <a:p>
            <a:pPr algn="just"/>
            <a:r>
              <a:rPr lang="ru-RU" sz="2000" dirty="0">
                <a:latin typeface="Montserrat" panose="00000500000000000000" pitchFamily="2" charset="-52"/>
              </a:rPr>
              <a:t>- Интерконнект между узлами (</a:t>
            </a:r>
            <a:r>
              <a:rPr lang="ru-RU" sz="2000" dirty="0" err="1">
                <a:latin typeface="Montserrat" panose="00000500000000000000" pitchFamily="2" charset="-52"/>
              </a:rPr>
              <a:t>Heartbeat</a:t>
            </a:r>
            <a:r>
              <a:rPr lang="ru-RU" sz="2000" dirty="0">
                <a:latin typeface="Montserrat" panose="00000500000000000000" pitchFamily="2" charset="-52"/>
              </a:rPr>
              <a:t>) — Ethernet-соединение между узлами для проверки работоспособности контроллеров.</a:t>
            </a:r>
          </a:p>
          <a:p>
            <a:pPr algn="just"/>
            <a:r>
              <a:rPr lang="ru-RU" sz="2000" dirty="0">
                <a:latin typeface="Montserrat" panose="00000500000000000000" pitchFamily="2" charset="-52"/>
              </a:rPr>
              <a:t>- Синхронизация кэша (</a:t>
            </a:r>
            <a:r>
              <a:rPr lang="ru-RU" sz="2000" dirty="0" err="1">
                <a:latin typeface="Montserrat" panose="00000500000000000000" pitchFamily="2" charset="-52"/>
              </a:rPr>
              <a:t>Cache</a:t>
            </a:r>
            <a:r>
              <a:rPr lang="ru-RU" sz="2000" dirty="0">
                <a:latin typeface="Montserrat" panose="00000500000000000000" pitchFamily="2" charset="-52"/>
              </a:rPr>
              <a:t> </a:t>
            </a:r>
            <a:r>
              <a:rPr lang="ru-RU" sz="2000" dirty="0" err="1">
                <a:latin typeface="Montserrat" panose="00000500000000000000" pitchFamily="2" charset="-52"/>
              </a:rPr>
              <a:t>sync</a:t>
            </a:r>
            <a:r>
              <a:rPr lang="ru-RU" sz="2000" dirty="0">
                <a:latin typeface="Montserrat" panose="00000500000000000000" pitchFamily="2" charset="-52"/>
              </a:rPr>
              <a:t>) — соединение для синхронизации кэша на основе протоколов IB-SRP, </a:t>
            </a:r>
            <a:r>
              <a:rPr lang="ru-RU" sz="2000" dirty="0" err="1">
                <a:latin typeface="Montserrat" panose="00000500000000000000" pitchFamily="2" charset="-52"/>
              </a:rPr>
              <a:t>iSCSI</a:t>
            </a:r>
            <a:r>
              <a:rPr lang="ru-RU" sz="2000" dirty="0">
                <a:latin typeface="Montserrat" panose="00000500000000000000" pitchFamily="2" charset="-52"/>
              </a:rPr>
              <a:t> или SAS.</a:t>
            </a:r>
          </a:p>
        </p:txBody>
      </p:sp>
    </p:spTree>
    <p:extLst>
      <p:ext uri="{BB962C8B-B14F-4D97-AF65-F5344CB8AC3E}">
        <p14:creationId xmlns:p14="http://schemas.microsoft.com/office/powerpoint/2010/main" val="18377912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0511B-AA1D-DE35-FBA6-72CE27592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08571EA-5EEC-CAAF-20AC-8ECD6E54F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F95B6E25-D162-0A1C-6463-A9669BA6C538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</a:t>
            </a:r>
            <a:r>
              <a:rPr lang="en-US" sz="3600" dirty="0">
                <a:latin typeface="Montserrat" panose="00000500000000000000" pitchFamily="2" charset="-52"/>
              </a:rPr>
              <a:t>CI/HCI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57CFD4-2B18-7C8A-EF06-D900C3B1D00C}"/>
              </a:ext>
            </a:extLst>
          </p:cNvPr>
          <p:cNvSpPr txBox="1"/>
          <p:nvPr/>
        </p:nvSpPr>
        <p:spPr>
          <a:xfrm>
            <a:off x="194979" y="367552"/>
            <a:ext cx="1180203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200" dirty="0">
                <a:latin typeface="Montserrat" panose="00000500000000000000" pitchFamily="2" charset="-52"/>
              </a:rPr>
              <a:t>Конвергентная инфраструктура — это подход, при котором разнородные компоненты ЦОДа (серверы, системы хранения данных и сетевое оборудование) объединяются в предварительно сконфигурированные, проверенные и сертифицированные «строительные блоки». Массив хранения данных – отдельное устройство, управление осуществляется разными людьми, масштабирование проводится горизонтально и вертикально.</a:t>
            </a:r>
          </a:p>
          <a:p>
            <a:pPr algn="just"/>
            <a:endParaRPr lang="ru-RU" sz="2200" dirty="0">
              <a:latin typeface="Montserrat" panose="00000500000000000000" pitchFamily="2" charset="-52"/>
            </a:endParaRPr>
          </a:p>
          <a:p>
            <a:pPr algn="just"/>
            <a:r>
              <a:rPr lang="ru-RU" sz="2200" dirty="0" err="1">
                <a:latin typeface="Montserrat" panose="00000500000000000000" pitchFamily="2" charset="-52"/>
              </a:rPr>
              <a:t>Гиперконвергенция</a:t>
            </a:r>
            <a:r>
              <a:rPr lang="ru-RU" sz="2200" dirty="0">
                <a:latin typeface="Montserrat" panose="00000500000000000000" pitchFamily="2" charset="-52"/>
              </a:rPr>
              <a:t> упрощает инфраструктуру дата-центра за счет того, что серверы приложений, системы хранения и сетевое оборудование размещаются в едином модуле стандартного оборудования, которое выполняет вычисления и хранение для виртуальных машин.  Масштабирование только горизонтально</a:t>
            </a:r>
            <a:endParaRPr lang="en-US" sz="22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007242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114B0-5B99-1D3A-8E26-19E62D8A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AA10C0-A51B-A125-13D3-591C85F0C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3C1CA0D-786B-1BFE-3C92-43C1CEAB5EBD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2. СХД, вендоры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D589B1-0748-1E34-29D6-F2B9BD647EA2}"/>
              </a:ext>
            </a:extLst>
          </p:cNvPr>
          <p:cNvSpPr txBox="1"/>
          <p:nvPr/>
        </p:nvSpPr>
        <p:spPr>
          <a:xfrm>
            <a:off x="194979" y="367552"/>
            <a:ext cx="11802036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ru-RU" sz="2800" dirty="0">
              <a:latin typeface="Montserrat" panose="00000500000000000000" pitchFamily="2" charset="-52"/>
            </a:endParaRP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Иностранные вендоры СХД:</a:t>
            </a:r>
          </a:p>
          <a:p>
            <a:pPr marL="342900" indent="-3429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NetApp</a:t>
            </a:r>
          </a:p>
          <a:p>
            <a:pPr marL="342900" indent="-3429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Dell</a:t>
            </a:r>
          </a:p>
          <a:p>
            <a:pPr marL="342900" indent="-3429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HPE</a:t>
            </a:r>
          </a:p>
          <a:p>
            <a:pPr marL="342900" indent="-3429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Huawei</a:t>
            </a:r>
            <a:endParaRPr lang="ru-RU" sz="28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Fujitsu</a:t>
            </a:r>
            <a:endParaRPr lang="ru-RU" sz="2800" dirty="0">
              <a:latin typeface="Montserrat" panose="00000500000000000000" pitchFamily="2" charset="-52"/>
            </a:endParaRPr>
          </a:p>
          <a:p>
            <a:pPr algn="just"/>
            <a:endParaRPr lang="ru-RU" sz="2800" dirty="0">
              <a:latin typeface="Montserrat" panose="00000500000000000000" pitchFamily="2" charset="-52"/>
            </a:endParaRP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Русские вендоры СХД:</a:t>
            </a:r>
          </a:p>
          <a:p>
            <a:pPr marL="342900" indent="-342900" algn="just">
              <a:buFontTx/>
              <a:buChar char="-"/>
            </a:pPr>
            <a:r>
              <a:rPr lang="en-US" sz="2800" dirty="0" err="1">
                <a:latin typeface="Montserrat" panose="00000500000000000000" pitchFamily="2" charset="-52"/>
              </a:rPr>
              <a:t>Yadro</a:t>
            </a:r>
            <a:endParaRPr lang="en-US" sz="28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en-US" sz="2800" dirty="0" err="1">
                <a:latin typeface="Montserrat" panose="00000500000000000000" pitchFamily="2" charset="-52"/>
              </a:rPr>
              <a:t>Fplus</a:t>
            </a:r>
            <a:endParaRPr lang="en-US" sz="28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QTECH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Гравитон</a:t>
            </a:r>
            <a:endParaRPr lang="en-US" sz="2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642728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C2E4C-C081-84ED-36CE-F7F13B664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A72C002-2ABA-F1BD-C038-ADEDFCA903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A4663AA-B136-FC5E-7BD0-D1C98C33877D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</a:t>
            </a:r>
            <a:r>
              <a:rPr lang="en-US" sz="3600" dirty="0">
                <a:latin typeface="Montserrat" panose="00000500000000000000" pitchFamily="2" charset="-52"/>
              </a:rPr>
              <a:t>3</a:t>
            </a:r>
            <a:r>
              <a:rPr lang="ru-RU" sz="3600" dirty="0">
                <a:latin typeface="Montserrat" panose="00000500000000000000" pitchFamily="2" charset="-52"/>
              </a:rPr>
              <a:t>. </a:t>
            </a:r>
            <a:r>
              <a:rPr lang="en-US" sz="3600" dirty="0">
                <a:latin typeface="Montserrat" panose="00000500000000000000" pitchFamily="2" charset="-52"/>
              </a:rPr>
              <a:t>RAIDIX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DF4661-71F3-63D2-9E4D-4D52A4CFC42B}"/>
              </a:ext>
            </a:extLst>
          </p:cNvPr>
          <p:cNvSpPr txBox="1"/>
          <p:nvPr/>
        </p:nvSpPr>
        <p:spPr>
          <a:xfrm>
            <a:off x="186014" y="416860"/>
            <a:ext cx="11819965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Программно-определяемая СХД (Software-</a:t>
            </a:r>
            <a:r>
              <a:rPr lang="ru-RU" sz="2800" dirty="0" err="1">
                <a:latin typeface="Montserrat" panose="00000500000000000000" pitchFamily="2" charset="-52"/>
              </a:rPr>
              <a:t>Defined</a:t>
            </a:r>
            <a:r>
              <a:rPr lang="ru-RU" sz="2800" dirty="0">
                <a:latin typeface="Montserrat" panose="00000500000000000000" pitchFamily="2" charset="-52"/>
              </a:rPr>
              <a:t> Storage, SDS) — это подход к хранению данных, при котором логика управления отделена от оборудования и реализована </a:t>
            </a:r>
            <a:r>
              <a:rPr lang="ru-RU" sz="2800" dirty="0" err="1">
                <a:latin typeface="Montserrat" panose="00000500000000000000" pitchFamily="2" charset="-52"/>
              </a:rPr>
              <a:t>программно</a:t>
            </a:r>
            <a:r>
              <a:rPr lang="ru-RU" sz="2800" dirty="0">
                <a:latin typeface="Montserrat" panose="00000500000000000000" pitchFamily="2" charset="-52"/>
              </a:rPr>
              <a:t>. ПО устанавливается на стандартные x86-серверы, объединяя их локальные диски в единый производительный пул, что обеспечивает гибкость, легкое масштабирование и экономию.</a:t>
            </a:r>
            <a:endParaRPr lang="en-US" sz="2800" dirty="0">
              <a:latin typeface="Montserrat" panose="00000500000000000000" pitchFamily="2" charset="-52"/>
            </a:endParaRPr>
          </a:p>
          <a:p>
            <a:pPr algn="just"/>
            <a:endParaRPr lang="ru-RU" sz="2800" dirty="0">
              <a:latin typeface="Montserrat" panose="00000500000000000000" pitchFamily="2" charset="-52"/>
            </a:endParaRP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Преимущества: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Гибкость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Экономичность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Отказоустойчивость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Удобство администрирования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3528198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1A5DD-2128-423E-0D9D-94C52319B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2878138-F4BE-E115-FE93-49DFD1074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3087E638-30EF-1EFF-7A0E-22BD8EBF8DD2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</a:t>
            </a:r>
            <a:r>
              <a:rPr lang="en-US" sz="3600" dirty="0">
                <a:latin typeface="Montserrat" panose="00000500000000000000" pitchFamily="2" charset="-52"/>
              </a:rPr>
              <a:t>3</a:t>
            </a:r>
            <a:r>
              <a:rPr lang="ru-RU" sz="3600" dirty="0">
                <a:latin typeface="Montserrat" panose="00000500000000000000" pitchFamily="2" charset="-52"/>
              </a:rPr>
              <a:t>. </a:t>
            </a:r>
            <a:r>
              <a:rPr lang="en-US" sz="3600" dirty="0">
                <a:latin typeface="Montserrat" panose="00000500000000000000" pitchFamily="2" charset="-52"/>
              </a:rPr>
              <a:t>RAIDIX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DE79D6-C615-AE9B-AABB-26AA1A22A564}"/>
              </a:ext>
            </a:extLst>
          </p:cNvPr>
          <p:cNvSpPr txBox="1"/>
          <p:nvPr/>
        </p:nvSpPr>
        <p:spPr>
          <a:xfrm>
            <a:off x="186014" y="416860"/>
            <a:ext cx="118199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Типы </a:t>
            </a:r>
            <a:r>
              <a:rPr lang="en-US" sz="2800" dirty="0">
                <a:latin typeface="Montserrat" panose="00000500000000000000" pitchFamily="2" charset="-52"/>
              </a:rPr>
              <a:t>RAID</a:t>
            </a:r>
            <a:r>
              <a:rPr lang="ru-RU" sz="2800" dirty="0">
                <a:latin typeface="Montserrat" panose="00000500000000000000" pitchFamily="2" charset="-52"/>
              </a:rPr>
              <a:t> в </a:t>
            </a:r>
            <a:r>
              <a:rPr lang="en-US" sz="2800" dirty="0">
                <a:latin typeface="Montserrat" panose="00000500000000000000" pitchFamily="2" charset="-52"/>
              </a:rPr>
              <a:t>RAIDIX 5</a:t>
            </a:r>
            <a:r>
              <a:rPr lang="ru-RU" sz="2800" dirty="0">
                <a:latin typeface="Montserrat" panose="00000500000000000000" pitchFamily="2" charset="-52"/>
              </a:rPr>
              <a:t>:</a:t>
            </a:r>
          </a:p>
          <a:p>
            <a:pPr algn="just"/>
            <a:r>
              <a:rPr lang="en-US" sz="2800" dirty="0">
                <a:latin typeface="Montserrat" panose="00000500000000000000" pitchFamily="2" charset="-52"/>
              </a:rPr>
              <a:t>Generic Engine – </a:t>
            </a:r>
            <a:r>
              <a:rPr lang="ru-RU" sz="2800" dirty="0">
                <a:latin typeface="Montserrat" panose="00000500000000000000" pitchFamily="2" charset="-52"/>
              </a:rPr>
              <a:t>алгоритм, используемый в </a:t>
            </a:r>
            <a:r>
              <a:rPr lang="en-US" sz="2800" dirty="0">
                <a:latin typeface="Montserrat" panose="00000500000000000000" pitchFamily="2" charset="-52"/>
              </a:rPr>
              <a:t>SDS RAIDIX</a:t>
            </a:r>
            <a:r>
              <a:rPr lang="ru-RU" sz="2800" dirty="0">
                <a:latin typeface="Montserrat" panose="00000500000000000000" pitchFamily="2" charset="-52"/>
              </a:rPr>
              <a:t>, работы для всех накопителей</a:t>
            </a:r>
            <a:endParaRPr lang="en-US" sz="28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Использование ОЗУ для оптимизации данных ч</a:t>
            </a:r>
            <a:r>
              <a:rPr lang="en-US" sz="2800" dirty="0">
                <a:latin typeface="Montserrat" panose="00000500000000000000" pitchFamily="2" charset="-52"/>
              </a:rPr>
              <a:t>/</a:t>
            </a:r>
            <a:r>
              <a:rPr lang="ru-RU" sz="2800" dirty="0">
                <a:latin typeface="Montserrat" panose="00000500000000000000" pitchFamily="2" charset="-52"/>
              </a:rPr>
              <a:t>з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Гибкая настройка для разных типов нагрузки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Режимы работы для ускорения медленных дисков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Быстрый расчет контрольных сумм</a:t>
            </a:r>
          </a:p>
          <a:p>
            <a:pPr algn="just"/>
            <a:endParaRPr lang="ru-RU" sz="2800" dirty="0">
              <a:latin typeface="Montserrat" panose="00000500000000000000" pitchFamily="2" charset="-52"/>
            </a:endParaRPr>
          </a:p>
          <a:p>
            <a:pPr algn="just"/>
            <a:r>
              <a:rPr lang="en-US" sz="2800" dirty="0" err="1">
                <a:latin typeface="Montserrat" panose="00000500000000000000" pitchFamily="2" charset="-52"/>
              </a:rPr>
              <a:t>Raidix</a:t>
            </a:r>
            <a:r>
              <a:rPr lang="en-US" sz="2800" dirty="0">
                <a:latin typeface="Montserrat" panose="00000500000000000000" pitchFamily="2" charset="-52"/>
              </a:rPr>
              <a:t> ERA – </a:t>
            </a:r>
            <a:r>
              <a:rPr lang="ru-RU" sz="2800" dirty="0">
                <a:latin typeface="Montserrat" panose="00000500000000000000" pitchFamily="2" charset="-52"/>
              </a:rPr>
              <a:t>ПО для </a:t>
            </a:r>
            <a:r>
              <a:rPr lang="en-US" sz="2800" dirty="0">
                <a:latin typeface="Montserrat" panose="00000500000000000000" pitchFamily="2" charset="-52"/>
              </a:rPr>
              <a:t>RAID </a:t>
            </a:r>
            <a:r>
              <a:rPr lang="ru-RU" sz="2800" dirty="0">
                <a:latin typeface="Montserrat" panose="00000500000000000000" pitchFamily="2" charset="-52"/>
              </a:rPr>
              <a:t>для </a:t>
            </a:r>
            <a:r>
              <a:rPr lang="en-US" sz="2800" dirty="0">
                <a:latin typeface="Montserrat" panose="00000500000000000000" pitchFamily="2" charset="-52"/>
              </a:rPr>
              <a:t>SSD/HDD, </a:t>
            </a:r>
            <a:r>
              <a:rPr lang="ru-RU" sz="2800" dirty="0">
                <a:latin typeface="Montserrat" panose="00000500000000000000" pitchFamily="2" charset="-52"/>
              </a:rPr>
              <a:t>модуль ядра Линукса.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Установка в виде </a:t>
            </a:r>
            <a:r>
              <a:rPr lang="en-US" sz="2800" dirty="0">
                <a:latin typeface="Montserrat" panose="00000500000000000000" pitchFamily="2" charset="-52"/>
              </a:rPr>
              <a:t>rpm/deb </a:t>
            </a:r>
            <a:r>
              <a:rPr lang="ru-RU" sz="2800" dirty="0">
                <a:latin typeface="Montserrat" panose="00000500000000000000" pitchFamily="2" charset="-52"/>
              </a:rPr>
              <a:t>пакета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Для многих дистрибутивов Линукса, также и российских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Работает с локальными, удаленными накопителями</a:t>
            </a:r>
            <a:endParaRPr lang="en-US" sz="2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5749724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F10C3-8470-B05D-9251-EE7DD4662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E88FC16E-EF1B-3CE2-836B-7B63765AC5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E0DBB46-95F1-111B-496D-8A06D83E31FC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</a:t>
            </a:r>
            <a:r>
              <a:rPr lang="en-US" sz="3600" dirty="0">
                <a:latin typeface="Montserrat" panose="00000500000000000000" pitchFamily="2" charset="-52"/>
              </a:rPr>
              <a:t>3</a:t>
            </a:r>
            <a:r>
              <a:rPr lang="ru-RU" sz="3600" dirty="0">
                <a:latin typeface="Montserrat" panose="00000500000000000000" pitchFamily="2" charset="-52"/>
              </a:rPr>
              <a:t>. </a:t>
            </a:r>
            <a:r>
              <a:rPr lang="en-US" sz="3600" dirty="0">
                <a:latin typeface="Montserrat" panose="00000500000000000000" pitchFamily="2" charset="-52"/>
              </a:rPr>
              <a:t>RAIDIX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667263-87BD-05AF-561B-0DB1A1809278}"/>
              </a:ext>
            </a:extLst>
          </p:cNvPr>
          <p:cNvSpPr txBox="1"/>
          <p:nvPr/>
        </p:nvSpPr>
        <p:spPr>
          <a:xfrm>
            <a:off x="186014" y="416860"/>
            <a:ext cx="1181996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RAIDIX 5 – российская программно-определяемая СХД для задач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Поставка в виде ОС</a:t>
            </a:r>
            <a:endParaRPr lang="en-US" sz="28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Работа в </a:t>
            </a:r>
            <a:r>
              <a:rPr lang="ru-RU" sz="2800" dirty="0" err="1">
                <a:latin typeface="Montserrat" panose="00000500000000000000" pitchFamily="2" charset="-52"/>
              </a:rPr>
              <a:t>разноконтроллерных</a:t>
            </a:r>
            <a:r>
              <a:rPr lang="ru-RU" sz="2800" dirty="0">
                <a:latin typeface="Montserrat" panose="00000500000000000000" pitchFamily="2" charset="-52"/>
              </a:rPr>
              <a:t> архитектуры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Нет </a:t>
            </a:r>
            <a:r>
              <a:rPr lang="ru-RU" sz="2800" dirty="0" err="1">
                <a:latin typeface="Montserrat" panose="00000500000000000000" pitchFamily="2" charset="-52"/>
              </a:rPr>
              <a:t>вендерозависимости</a:t>
            </a:r>
            <a:endParaRPr lang="en-US" sz="2800" dirty="0">
              <a:latin typeface="Montserrat" panose="00000500000000000000" pitchFamily="2" charset="-52"/>
            </a:endParaRP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Протоколы для </a:t>
            </a:r>
            <a:r>
              <a:rPr lang="en-US" sz="2800" dirty="0">
                <a:latin typeface="Montserrat" panose="00000500000000000000" pitchFamily="2" charset="-52"/>
              </a:rPr>
              <a:t>SAN, NAS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До 64 дисков в </a:t>
            </a:r>
            <a:r>
              <a:rPr lang="en-US" sz="2800" dirty="0">
                <a:latin typeface="Montserrat" panose="00000500000000000000" pitchFamily="2" charset="-52"/>
              </a:rPr>
              <a:t>RAID, </a:t>
            </a:r>
            <a:r>
              <a:rPr lang="ru-RU" sz="2800" dirty="0">
                <a:latin typeface="Montserrat" panose="00000500000000000000" pitchFamily="2" charset="-52"/>
              </a:rPr>
              <a:t>до 447 </a:t>
            </a:r>
            <a:r>
              <a:rPr lang="en-US" sz="2800" dirty="0">
                <a:latin typeface="Montserrat" panose="00000500000000000000" pitchFamily="2" charset="-52"/>
              </a:rPr>
              <a:t>LUN, </a:t>
            </a:r>
            <a:r>
              <a:rPr lang="ru-RU" sz="2800" dirty="0">
                <a:latin typeface="Montserrat" panose="00000500000000000000" pitchFamily="2" charset="-52"/>
              </a:rPr>
              <a:t>до 600 дисков в системе</a:t>
            </a:r>
          </a:p>
          <a:p>
            <a:pPr marL="342900" indent="-342900" algn="just">
              <a:buFontTx/>
              <a:buChar char="-"/>
            </a:pPr>
            <a:r>
              <a:rPr lang="ru-RU" sz="2800" dirty="0">
                <a:latin typeface="Montserrat" panose="00000500000000000000" pitchFamily="2" charset="-52"/>
              </a:rPr>
              <a:t>Использование одновременно томов файловой</a:t>
            </a:r>
            <a:r>
              <a:rPr lang="en-US" sz="2800" dirty="0">
                <a:latin typeface="Montserrat" panose="00000500000000000000" pitchFamily="2" charset="-52"/>
              </a:rPr>
              <a:t>/</a:t>
            </a:r>
            <a:r>
              <a:rPr lang="ru-RU" sz="2800" dirty="0">
                <a:latin typeface="Montserrat" panose="00000500000000000000" pitchFamily="2" charset="-52"/>
              </a:rPr>
              <a:t>блочной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9EC73AF-B8BD-029C-4584-5F20EF09D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325" y="4048396"/>
            <a:ext cx="7806600" cy="260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537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1FF1D-AD2F-02FD-BC7E-4E23E0375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3F5C610-D188-FB30-F3B1-5EE953890C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8D13DBB0-D07C-7529-982C-F501B3E1CF6A}"/>
              </a:ext>
            </a:extLst>
          </p:cNvPr>
          <p:cNvSpPr txBox="1">
            <a:spLocks/>
          </p:cNvSpPr>
          <p:nvPr/>
        </p:nvSpPr>
        <p:spPr>
          <a:xfrm>
            <a:off x="1835518" y="0"/>
            <a:ext cx="8520958" cy="542364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latin typeface="Montserrat" panose="00000500000000000000" pitchFamily="2" charset="-52"/>
              </a:rPr>
              <a:t>Часть </a:t>
            </a:r>
            <a:r>
              <a:rPr lang="en-US" sz="3600" dirty="0">
                <a:latin typeface="Montserrat" panose="00000500000000000000" pitchFamily="2" charset="-52"/>
              </a:rPr>
              <a:t>3</a:t>
            </a:r>
            <a:r>
              <a:rPr lang="ru-RU" sz="3600" dirty="0">
                <a:latin typeface="Montserrat" panose="00000500000000000000" pitchFamily="2" charset="-52"/>
              </a:rPr>
              <a:t>. </a:t>
            </a:r>
            <a:r>
              <a:rPr lang="en-US" sz="3600" dirty="0">
                <a:latin typeface="Montserrat" panose="00000500000000000000" pitchFamily="2" charset="-52"/>
              </a:rPr>
              <a:t>RAIDIX</a:t>
            </a:r>
            <a:endParaRPr lang="ru-RU" sz="3600" dirty="0">
              <a:latin typeface="Montserrat" panose="00000500000000000000" pitchFamily="2" charset="-5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44A91-A4F0-F1E8-0588-6DAF356E9AED}"/>
              </a:ext>
            </a:extLst>
          </p:cNvPr>
          <p:cNvSpPr txBox="1"/>
          <p:nvPr/>
        </p:nvSpPr>
        <p:spPr>
          <a:xfrm>
            <a:off x="186014" y="416860"/>
            <a:ext cx="1181996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Виды </a:t>
            </a:r>
            <a:r>
              <a:rPr lang="en-US" sz="2800" dirty="0">
                <a:latin typeface="Montserrat" panose="00000500000000000000" pitchFamily="2" charset="-52"/>
              </a:rPr>
              <a:t>RAID: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RAID 0,1,</a:t>
            </a:r>
            <a:r>
              <a:rPr lang="ru-RU" sz="2800" dirty="0">
                <a:latin typeface="Montserrat" panose="00000500000000000000" pitchFamily="2" charset="-52"/>
              </a:rPr>
              <a:t>01,</a:t>
            </a:r>
            <a:r>
              <a:rPr lang="en-US" sz="2800" dirty="0">
                <a:latin typeface="Montserrat" panose="00000500000000000000" pitchFamily="2" charset="-52"/>
              </a:rPr>
              <a:t>10,5,</a:t>
            </a:r>
            <a:r>
              <a:rPr lang="ru-RU" sz="2800" dirty="0">
                <a:latin typeface="Montserrat" panose="00000500000000000000" pitchFamily="2" charset="-52"/>
              </a:rPr>
              <a:t>6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RAID N+M - </a:t>
            </a:r>
            <a:r>
              <a:rPr lang="ru-RU" sz="2800" dirty="0">
                <a:latin typeface="Montserrat" panose="00000500000000000000" pitchFamily="2" charset="-52"/>
              </a:rPr>
              <a:t>уровень чередования блоков с M распределением чётности. Минимум 8 дисков. До 32 дисков могут отказать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RAID 7.3 – 3 </a:t>
            </a:r>
            <a:r>
              <a:rPr lang="ru-RU" sz="2800" dirty="0">
                <a:latin typeface="Montserrat" panose="00000500000000000000" pitchFamily="2" charset="-52"/>
              </a:rPr>
              <a:t>диска для контрольных сумм, отказ до 3 дисков</a:t>
            </a: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RAID 50</a:t>
            </a:r>
            <a:r>
              <a:rPr lang="ru-RU" sz="2800" dirty="0">
                <a:latin typeface="Montserrat" panose="00000500000000000000" pitchFamily="2" charset="-52"/>
              </a:rPr>
              <a:t>, 60, 70</a:t>
            </a:r>
            <a:r>
              <a:rPr lang="en-US" sz="2800" dirty="0">
                <a:latin typeface="Montserrat" panose="00000500000000000000" pitchFamily="2" charset="-52"/>
              </a:rPr>
              <a:t> – </a:t>
            </a:r>
            <a:r>
              <a:rPr lang="ru-RU" sz="2800" dirty="0">
                <a:latin typeface="Montserrat" panose="00000500000000000000" pitchFamily="2" charset="-52"/>
              </a:rPr>
              <a:t>две группы минимум по 4(6) диска, емкость </a:t>
            </a:r>
            <a:r>
              <a:rPr lang="en-US" sz="2800" dirty="0">
                <a:latin typeface="Montserrat" panose="00000500000000000000" pitchFamily="2" charset="-52"/>
              </a:rPr>
              <a:t>(N–</a:t>
            </a:r>
            <a:r>
              <a:rPr lang="en-US" sz="2800" dirty="0" err="1">
                <a:latin typeface="Montserrat" panose="00000500000000000000" pitchFamily="2" charset="-52"/>
              </a:rPr>
              <a:t>xN</a:t>
            </a:r>
            <a:r>
              <a:rPr lang="en-US" sz="2800" dirty="0">
                <a:latin typeface="Montserrat" panose="00000500000000000000" pitchFamily="2" charset="-52"/>
              </a:rPr>
              <a:t>/</a:t>
            </a:r>
            <a:r>
              <a:rPr lang="en-US" sz="2800" dirty="0" err="1">
                <a:latin typeface="Montserrat" panose="00000500000000000000" pitchFamily="2" charset="-52"/>
              </a:rPr>
              <a:t>gs</a:t>
            </a:r>
            <a:r>
              <a:rPr lang="en-US" sz="2800" dirty="0">
                <a:latin typeface="Montserrat" panose="00000500000000000000" pitchFamily="2" charset="-52"/>
              </a:rPr>
              <a:t>) * size</a:t>
            </a:r>
            <a:r>
              <a:rPr lang="ru-RU" sz="2800" dirty="0">
                <a:latin typeface="Montserrat" panose="00000500000000000000" pitchFamily="2" charset="-52"/>
              </a:rPr>
              <a:t>, выдержка минимум 1 отказа в группе</a:t>
            </a:r>
            <a:r>
              <a:rPr lang="en-US" sz="2800" dirty="0">
                <a:latin typeface="Montserrat" panose="00000500000000000000" pitchFamily="2" charset="-52"/>
              </a:rPr>
              <a:t>, x – </a:t>
            </a:r>
            <a:r>
              <a:rPr lang="ru-RU" sz="2800" dirty="0">
                <a:latin typeface="Montserrat" panose="00000500000000000000" pitchFamily="2" charset="-52"/>
              </a:rPr>
              <a:t>1(</a:t>
            </a:r>
            <a:r>
              <a:rPr lang="en-US" sz="2800" dirty="0">
                <a:latin typeface="Montserrat" panose="00000500000000000000" pitchFamily="2" charset="-52"/>
              </a:rPr>
              <a:t>raid 50</a:t>
            </a:r>
            <a:r>
              <a:rPr lang="ru-RU" sz="2800" dirty="0">
                <a:latin typeface="Montserrat" panose="00000500000000000000" pitchFamily="2" charset="-52"/>
              </a:rPr>
              <a:t>)</a:t>
            </a:r>
            <a:r>
              <a:rPr lang="en-US" sz="2800" dirty="0">
                <a:latin typeface="Montserrat" panose="00000500000000000000" pitchFamily="2" charset="-52"/>
              </a:rPr>
              <a:t>, 2(raid 60), 3(raid 70)</a:t>
            </a:r>
            <a:endParaRPr lang="ru-RU" sz="2800" dirty="0">
              <a:latin typeface="Montserrat" panose="00000500000000000000" pitchFamily="2" charset="-52"/>
            </a:endParaRPr>
          </a:p>
          <a:p>
            <a:pPr marL="457200" indent="-457200" algn="just">
              <a:buFontTx/>
              <a:buChar char="-"/>
            </a:pPr>
            <a:r>
              <a:rPr lang="en-US" sz="2800" dirty="0">
                <a:latin typeface="Montserrat" panose="00000500000000000000" pitchFamily="2" charset="-52"/>
              </a:rPr>
              <a:t>RAID </a:t>
            </a:r>
            <a:r>
              <a:rPr lang="ru-RU" sz="2800" dirty="0">
                <a:latin typeface="Montserrat" panose="00000500000000000000" pitchFamily="2" charset="-52"/>
              </a:rPr>
              <a:t>5</a:t>
            </a:r>
            <a:r>
              <a:rPr lang="en-US" sz="2800" dirty="0">
                <a:latin typeface="Montserrat" panose="00000500000000000000" pitchFamily="2" charset="-52"/>
              </a:rPr>
              <a:t>i,6i,7.3i,N+Mi – </a:t>
            </a:r>
            <a:r>
              <a:rPr lang="ru-RU" sz="2800" dirty="0">
                <a:latin typeface="Montserrat" panose="00000500000000000000" pitchFamily="2" charset="-52"/>
              </a:rPr>
              <a:t>инициализированные </a:t>
            </a:r>
            <a:r>
              <a:rPr lang="en-US" sz="2800" dirty="0">
                <a:latin typeface="Montserrat" panose="00000500000000000000" pitchFamily="2" charset="-52"/>
              </a:rPr>
              <a:t>raid</a:t>
            </a:r>
            <a:r>
              <a:rPr lang="ru-RU" sz="2800" dirty="0">
                <a:latin typeface="Montserrat" panose="00000500000000000000" pitchFamily="2" charset="-52"/>
              </a:rPr>
              <a:t>, </a:t>
            </a:r>
            <a:r>
              <a:rPr lang="en-US" sz="2800" dirty="0">
                <a:latin typeface="Montserrat" panose="00000500000000000000" pitchFamily="2" charset="-52"/>
              </a:rPr>
              <a:t>c </a:t>
            </a:r>
            <a:r>
              <a:rPr lang="ru-RU" sz="2800" dirty="0">
                <a:latin typeface="Montserrat" panose="00000500000000000000" pitchFamily="2" charset="-52"/>
              </a:rPr>
              <a:t>параметром механизм обнаружения скрытого повреждения данных</a:t>
            </a:r>
          </a:p>
        </p:txBody>
      </p:sp>
    </p:spTree>
    <p:extLst>
      <p:ext uri="{BB962C8B-B14F-4D97-AF65-F5344CB8AC3E}">
        <p14:creationId xmlns:p14="http://schemas.microsoft.com/office/powerpoint/2010/main" val="5096806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3A313-9610-F83A-A962-9A7AB389D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23A343C-24FE-D67E-202E-63FDE8F6F2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59A83AF8-2713-1707-B9EC-4FBE54E646A7}"/>
              </a:ext>
            </a:extLst>
          </p:cNvPr>
          <p:cNvSpPr txBox="1">
            <a:spLocks/>
          </p:cNvSpPr>
          <p:nvPr/>
        </p:nvSpPr>
        <p:spPr>
          <a:xfrm>
            <a:off x="1186021" y="50104"/>
            <a:ext cx="10494500" cy="54236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800" dirty="0">
                <a:latin typeface="Montserrat" panose="00000500000000000000" pitchFamily="2" charset="-52"/>
              </a:rPr>
              <a:t>Часть 4. Разбор спецификации для Облачной платформы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BAD02C-4B03-D3E8-56F8-F12ADE60DE0D}"/>
              </a:ext>
            </a:extLst>
          </p:cNvPr>
          <p:cNvSpPr txBox="1"/>
          <p:nvPr/>
        </p:nvSpPr>
        <p:spPr>
          <a:xfrm>
            <a:off x="186014" y="416860"/>
            <a:ext cx="118199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>
                <a:latin typeface="Montserrat" panose="00000500000000000000" pitchFamily="2" charset="-52"/>
              </a:rPr>
              <a:t>Важные условия:</a:t>
            </a:r>
          </a:p>
          <a:p>
            <a:pPr algn="just"/>
            <a:r>
              <a:rPr lang="ru-RU" sz="2800" dirty="0">
                <a:latin typeface="Montserrat" panose="00000500000000000000" pitchFamily="2" charset="-52"/>
              </a:rPr>
              <a:t> - монтаж в шкаф </a:t>
            </a:r>
            <a:r>
              <a:rPr lang="ru-RU" sz="2800">
                <a:latin typeface="Montserrat" panose="00000500000000000000" pitchFamily="2" charset="-52"/>
              </a:rPr>
              <a:t>19 дюймов</a:t>
            </a:r>
            <a:endParaRPr lang="ru-RU" sz="2800" dirty="0">
              <a:latin typeface="Montserrat" panose="00000500000000000000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0119042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2318</Words>
  <Application>Microsoft Office PowerPoint</Application>
  <PresentationFormat>Широкоэкранный</PresentationFormat>
  <Paragraphs>324</Paragraphs>
  <Slides>37</Slides>
  <Notes>28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Montserrat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Даниил Поляков</dc:creator>
  <cp:lastModifiedBy>Даниил Поляков</cp:lastModifiedBy>
  <cp:revision>4</cp:revision>
  <dcterms:created xsi:type="dcterms:W3CDTF">2026-02-19T18:52:05Z</dcterms:created>
  <dcterms:modified xsi:type="dcterms:W3CDTF">2026-02-20T12:18:11Z</dcterms:modified>
</cp:coreProperties>
</file>